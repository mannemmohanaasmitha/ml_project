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oil nutrient analysis" id="{7b2f6975-84e2-595c-e8b5-aca35bc52d55}">
          <p14:sldIdLst>
            <p14:sldId id="256"/>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A1B12"/>
                </a:solidFill>
                <a:latin typeface="+mn-lt"/>
              </a:defRPr>
            </a:pPr>
            <a:r>
              <a:rPr sz="1300" b="0" i="0" u="none" strike="noStrike">
                <a:solidFill>
                  <a:srgbClr val="2A1B12"/>
                </a:solidFill>
                <a:latin typeface="+mn-lt"/>
              </a:rPr>
              <a:t>Variance explained by each component (%)</a:t>
            </a:r>
          </a:p>
        </c:rich>
      </c:tx>
      <c:layout/>
      <c:overlay val="0"/>
    </c:title>
    <c:autoTitleDeleted val="0"/>
    <c:plotArea>
      <c:layout/>
      <c:barChart>
        <c:barDir val="col"/>
        <c:grouping val="clustered"/>
        <c:varyColors val="0"/>
        <c:ser>
          <c:idx val="0"/>
          <c:order val="0"/>
          <c:tx>
            <c:strRef>
              <c:f>Sheet1!$B$1</c:f>
              <c:strCache>
                <c:ptCount val="1"/>
                <c:pt idx="0">
                  <c:v>Variance explained (%)</c:v>
                </c:pt>
              </c:strCache>
            </c:strRef>
          </c:tx>
          <c:spPr>
            <a:solidFill>
              <a:srgbClr val="C8793A"/>
            </a:solidFill>
            <a:effectLst/>
          </c:spPr>
          <c:invertIfNegative val="0"/>
          <c:dLbls>
            <c:numFmt formatCode="0.0" sourceLinked="0"/>
            <c:txPr>
              <a:bodyPr/>
              <a:lstStyle/>
              <a:p>
                <a:pPr>
                  <a:defRPr b="0" i="0" strike="noStrike" sz="1200" u="none">
                    <a:solidFill>
                      <a:srgbClr val="2A1B12"/>
                    </a:solidFill>
                    <a:latin typeface="+mn-lt"/>
                  </a:defRPr>
                </a:pPr>
              </a:p>
            </c:txPr>
            <c:showLegendKey val="0"/>
            <c:showVal val="1"/>
            <c:showCatName val="0"/>
            <c:showSerName val="0"/>
            <c:showPercent val="0"/>
            <c:showBubbleSize val="0"/>
            <c:showLeaderLines val="0"/>
          </c:dLbls>
          <c:dPt>
            <c:idx val="0"/>
            <c:invertIfNegative val="0"/>
            <c:bubble3D val="0"/>
            <c:spPr>
              <a:solidFill>
                <a:srgbClr val="C8793A"/>
              </a:solidFill>
              <a:effectLst/>
            </c:spPr>
          </c:dPt>
          <c:dPt>
            <c:idx val="1"/>
            <c:invertIfNegative val="0"/>
            <c:bubble3D val="0"/>
            <c:spPr>
              <a:solidFill>
                <a:srgbClr val="C8793A"/>
              </a:solidFill>
              <a:effectLst/>
            </c:spPr>
          </c:dPt>
          <c:dPt>
            <c:idx val="2"/>
            <c:invertIfNegative val="0"/>
            <c:bubble3D val="0"/>
            <c:spPr>
              <a:solidFill>
                <a:srgbClr val="C8793A"/>
              </a:solidFill>
              <a:effectLst/>
            </c:spPr>
          </c:dPt>
          <c:dPt>
            <c:idx val="3"/>
            <c:invertIfNegative val="0"/>
            <c:bubble3D val="0"/>
            <c:spPr>
              <a:solidFill>
                <a:srgbClr val="B9A28C"/>
              </a:solidFill>
              <a:effectLst/>
            </c:spPr>
          </c:dPt>
          <c:dPt>
            <c:idx val="4"/>
            <c:invertIfNegative val="0"/>
            <c:bubble3D val="0"/>
            <c:spPr>
              <a:solidFill>
                <a:srgbClr val="B9A28C"/>
              </a:solidFill>
              <a:effectLst/>
            </c:spPr>
          </c:dPt>
          <c:dPt>
            <c:idx val="5"/>
            <c:invertIfNegative val="0"/>
            <c:bubble3D val="0"/>
            <c:spPr>
              <a:solidFill>
                <a:srgbClr val="B9A28C"/>
              </a:solidFill>
              <a:effectLst/>
            </c:spPr>
          </c:dPt>
          <c:dPt>
            <c:idx val="6"/>
            <c:invertIfNegative val="0"/>
            <c:bubble3D val="0"/>
            <c:spPr>
              <a:solidFill>
                <a:srgbClr val="B9A28C"/>
              </a:solidFill>
              <a:effectLst/>
            </c:spPr>
          </c:dPt>
          <c:cat>
            <c:multiLvlStrRef>
              <c:f>Sheet1!$A$2:$A$8</c:f>
              <c:multiLvlStrCache>
                <c:ptCount val="7"/>
                <c:lvl>
                  <c:pt idx="0">
                    <c:v>PC1</c:v>
                  </c:pt>
                  <c:pt idx="1">
                    <c:v>PC2</c:v>
                  </c:pt>
                  <c:pt idx="2">
                    <c:v>PC3</c:v>
                  </c:pt>
                  <c:pt idx="3">
                    <c:v>PC4</c:v>
                  </c:pt>
                  <c:pt idx="4">
                    <c:v>PC5</c:v>
                  </c:pt>
                  <c:pt idx="5">
                    <c:v>PC6</c:v>
                  </c:pt>
                  <c:pt idx="6">
                    <c:v>PC7</c:v>
                  </c:pt>
                </c:lvl>
              </c:multiLvlStrCache>
            </c:multiLvlStrRef>
          </c:cat>
          <c:val>
            <c:numRef>
              <c:f>Sheet1!$B$2:$B$8</c:f>
              <c:numCache>
                <c:formatCode>General</c:formatCode>
                <c:ptCount val="7"/>
                <c:pt idx="0">
                  <c:v>31.8</c:v>
                </c:pt>
                <c:pt idx="1">
                  <c:v>26.5</c:v>
                </c:pt>
                <c:pt idx="2">
                  <c:v>14.5</c:v>
                </c:pt>
                <c:pt idx="3">
                  <c:v>13.3</c:v>
                </c:pt>
                <c:pt idx="4">
                  <c:v>10.8</c:v>
                </c:pt>
                <c:pt idx="5">
                  <c:v>3</c:v>
                </c:pt>
                <c:pt idx="6">
                  <c:v>0.2</c:v>
                </c:pt>
              </c:numCache>
            </c:numRef>
          </c:val>
        </c:ser>
        <c:dLbls>
          <c:numFmt formatCode="0.0" sourceLinked="0"/>
          <c:txPr>
            <a:bodyPr/>
            <a:lstStyle/>
            <a:p>
              <a:pPr>
                <a:defRPr b="0" i="0" strike="noStrike" sz="1200" u="none">
                  <a:solidFill>
                    <a:srgbClr val="2A1B12"/>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3A22"/>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3D5C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3A2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A1B12"/>
                </a:solidFill>
                <a:latin typeface="+mn-lt"/>
              </a:defRPr>
            </a:pPr>
            <a:r>
              <a:rPr sz="1300" b="0" i="0" u="none" strike="noStrike">
                <a:solidFill>
                  <a:srgbClr val="2A1B12"/>
                </a:solidFill>
                <a:latin typeface="+mn-lt"/>
              </a:rPr>
              <a:t>k-NN accuracy on the test set (%)</a:t>
            </a:r>
          </a:p>
        </c:rich>
      </c:tx>
      <c:layout/>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7A4A2B"/>
            </a:solidFill>
            <a:effectLst/>
          </c:spPr>
          <c:invertIfNegative val="0"/>
          <c:dLbls>
            <c:numFmt formatCode="0.0" sourceLinked="0"/>
            <c:txPr>
              <a:bodyPr/>
              <a:lstStyle/>
              <a:p>
                <a:pPr>
                  <a:defRPr b="0" i="0" strike="noStrike" sz="1200" u="none">
                    <a:solidFill>
                      <a:srgbClr val="2A1B12"/>
                    </a:solidFill>
                    <a:latin typeface="+mn-lt"/>
                  </a:defRPr>
                </a:pPr>
              </a:p>
            </c:txPr>
            <c:showLegendKey val="0"/>
            <c:showVal val="1"/>
            <c:showCatName val="0"/>
            <c:showSerName val="0"/>
            <c:showPercent val="0"/>
            <c:showBubbleSize val="0"/>
            <c:showLeaderLines val="0"/>
          </c:dLbls>
          <c:dPt>
            <c:idx val="0"/>
            <c:invertIfNegative val="0"/>
            <c:bubble3D val="0"/>
            <c:spPr>
              <a:solidFill>
                <a:srgbClr val="7A4A2B"/>
              </a:solidFill>
              <a:effectLst/>
            </c:spPr>
          </c:dPt>
          <c:dPt>
            <c:idx val="1"/>
            <c:invertIfNegative val="0"/>
            <c:bubble3D val="0"/>
            <c:spPr>
              <a:solidFill>
                <a:srgbClr val="C8793A"/>
              </a:solidFill>
              <a:effectLst/>
            </c:spPr>
          </c:dPt>
          <c:cat>
            <c:multiLvlStrRef>
              <c:f>Sheet1!$A$2:$A$3</c:f>
              <c:multiLvlStrCache>
                <c:ptCount val="2"/>
                <c:lvl>
                  <c:pt idx="0">
                    <c:v>All 7 features</c:v>
                  </c:pt>
                  <c:pt idx="1">
                    <c:v>3 components</c:v>
                  </c:pt>
                </c:lvl>
              </c:multiLvlStrCache>
            </c:multiLvlStrRef>
          </c:cat>
          <c:val>
            <c:numRef>
              <c:f>Sheet1!$B$2:$B$3</c:f>
              <c:numCache>
                <c:formatCode>General</c:formatCode>
                <c:ptCount val="2"/>
                <c:pt idx="0">
                  <c:v>90.4</c:v>
                </c:pt>
                <c:pt idx="1">
                  <c:v>77.7</c:v>
                </c:pt>
              </c:numCache>
            </c:numRef>
          </c:val>
        </c:ser>
        <c:dLbls>
          <c:numFmt formatCode="0.0" sourceLinked="0"/>
          <c:txPr>
            <a:bodyPr/>
            <a:lstStyle/>
            <a:p>
              <a:pPr>
                <a:defRPr b="0" i="0" strike="noStrike" sz="1200" u="none">
                  <a:solidFill>
                    <a:srgbClr val="2A1B1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3A22"/>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D5C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3A2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oil profile illustration" descr="Soil layers with a sprout and N, P, K nutrient markers">    </p:cNvPr>
          <p:cNvPicPr>
            <a:picLocks noChangeAspect="1"/>
          </p:cNvPicPr>
          <p:nvPr/>
        </p:nvPicPr>
        <p:blipFill>
          <a:blip r:embed="rId1"/>
          <a:stretch>
            <a:fillRect/>
          </a:stretch>
        </p:blipFill>
        <p:spPr>
          <a:xfrm>
            <a:off x="5486400" y="0"/>
            <a:ext cx="3657600" cy="5143500"/>
          </a:xfrm>
          <a:prstGeom prst="rect">
            <a:avLst/>
          </a:prstGeom>
        </p:spPr>
      </p:pic>
      <p:sp>
        <p:nvSpPr>
          <p:cNvPr id="3" name="Text 0"/>
          <p:cNvSpPr txBox="1"/>
          <p:nvPr/>
        </p:nvSpPr>
        <p:spPr>
          <a:xfrm>
            <a:off x="457200" y="731520"/>
            <a:ext cx="4754880" cy="155448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Soil Nutrients with PCA and Feature Engineering</a:t>
            </a:r>
            <a:endParaRPr lang="en-US" sz="3400" dirty="0"/>
          </a:p>
        </p:txBody>
      </p:sp>
      <p:sp>
        <p:nvSpPr>
          <p:cNvPr id="4" name="Text 1"/>
          <p:cNvSpPr txBox="1"/>
          <p:nvPr/>
        </p:nvSpPr>
        <p:spPr>
          <a:xfrm>
            <a:off x="457200" y="2377440"/>
            <a:ext cx="4754880" cy="640080"/>
          </a:xfrm>
          <a:prstGeom prst="rect">
            <a:avLst/>
          </a:prstGeom>
          <a:noFill/>
          <a:ln/>
        </p:spPr>
        <p:txBody>
          <a:bodyPr wrap="square" lIns="0" tIns="0" rIns="0" bIns="0" rtlCol="0" anchor="t"/>
          <a:lstStyle/>
          <a:p>
            <a:pPr indent="0" marL="0">
              <a:buNone/>
            </a:pPr>
            <a:r>
              <a:rPr lang="en-US" sz="1600" dirty="0">
                <a:solidFill>
                  <a:schemeClr val="accent4"/>
                </a:solidFill>
              </a:rPr>
              <a:t>Data cleaning, feature engineering and dimensionality reduction for soil analysis</a:t>
            </a:r>
            <a:endParaRPr lang="en-US" sz="1600" dirty="0"/>
          </a:p>
        </p:txBody>
      </p:sp>
      <p:sp>
        <p:nvSpPr>
          <p:cNvPr id="5" name="Text 2"/>
          <p:cNvSpPr txBox="1"/>
          <p:nvPr/>
        </p:nvSpPr>
        <p:spPr>
          <a:xfrm>
            <a:off x="457200" y="3337560"/>
            <a:ext cx="4754880" cy="274320"/>
          </a:xfrm>
          <a:prstGeom prst="rect">
            <a:avLst/>
          </a:prstGeom>
          <a:noFill/>
          <a:ln/>
        </p:spPr>
        <p:txBody>
          <a:bodyPr wrap="square" lIns="0" tIns="0" rIns="0" bIns="0" rtlCol="0" anchor="ctr"/>
          <a:lstStyle/>
          <a:p>
            <a:pPr indent="0" marL="0">
              <a:buNone/>
            </a:pPr>
            <a:r>
              <a:rPr lang="en-US" sz="1400" b="1" dirty="0">
                <a:solidFill>
                  <a:schemeClr val="bg1"/>
                </a:solidFill>
              </a:rPr>
              <a:t>Team 17</a:t>
            </a:r>
            <a:endParaRPr lang="en-US" sz="1400" dirty="0"/>
          </a:p>
        </p:txBody>
      </p:sp>
      <p:sp>
        <p:nvSpPr>
          <p:cNvPr id="6" name="Text 3"/>
          <p:cNvSpPr txBox="1"/>
          <p:nvPr/>
        </p:nvSpPr>
        <p:spPr>
          <a:xfrm>
            <a:off x="457200" y="3657600"/>
            <a:ext cx="4754880" cy="822960"/>
          </a:xfrm>
          <a:prstGeom prst="rect">
            <a:avLst/>
          </a:prstGeom>
          <a:noFill/>
          <a:ln/>
        </p:spPr>
        <p:txBody>
          <a:bodyPr wrap="square" lIns="0" tIns="0" rIns="0" bIns="0" rtlCol="0" anchor="t"/>
          <a:lstStyle/>
          <a:p>
            <a:pPr indent="0" marL="0">
              <a:spcAft>
                <a:spcPts val="300"/>
              </a:spcAft>
              <a:buNone/>
            </a:pPr>
            <a:r>
              <a:rPr lang="en-US" sz="1400" dirty="0">
                <a:solidFill>
                  <a:schemeClr val="bg1"/>
                </a:solidFill>
              </a:rPr>
              <a:t>M. Mohana Asmitha  |  2520030486</a:t>
            </a:r>
            <a:endParaRPr lang="en-US" sz="1400" dirty="0"/>
          </a:p>
          <a:p>
            <a:pPr indent="0" marL="0">
              <a:spcAft>
                <a:spcPts val="300"/>
              </a:spcAft>
              <a:buNone/>
            </a:pPr>
            <a:r>
              <a:rPr lang="en-US" sz="1400" dirty="0">
                <a:solidFill>
                  <a:schemeClr val="bg1"/>
                </a:solidFill>
              </a:rPr>
              <a:t>D. Khyathi Saranya  |  2520030488</a:t>
            </a:r>
            <a:endParaRPr lang="en-US" sz="1400" dirty="0"/>
          </a:p>
          <a:p>
            <a:pPr indent="0" marL="0">
              <a:spcAft>
                <a:spcPts val="300"/>
              </a:spcAft>
              <a:buNone/>
            </a:pPr>
            <a:r>
              <a:rPr lang="en-US" sz="1400" dirty="0">
                <a:solidFill>
                  <a:schemeClr val="bg1"/>
                </a:solidFill>
              </a:rPr>
              <a:t>R. Bhavitha  |  2520030489</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Abstract and introduction</a:t>
            </a:r>
            <a:endParaRPr lang="en-US" sz="3000" dirty="0"/>
          </a:p>
        </p:txBody>
      </p:sp>
      <p:sp>
        <p:nvSpPr>
          <p:cNvPr id="3" name="Abstract card"/>
          <p:cNvSpPr/>
          <p:nvPr/>
        </p:nvSpPr>
        <p:spPr>
          <a:xfrm>
            <a:off x="457200" y="1280160"/>
            <a:ext cx="4023360" cy="3337560"/>
          </a:xfrm>
          <a:prstGeom prst="roundRect">
            <a:avLst>
              <a:gd name="adj" fmla="val 2192"/>
            </a:avLst>
          </a:prstGeom>
          <a:solidFill>
            <a:schemeClr val="bg2"/>
          </a:solidFill>
          <a:ln w="12700">
            <a:solidFill>
              <a:schemeClr val="bg2"/>
            </a:solidFill>
            <a:prstDash val="solid"/>
          </a:ln>
        </p:spPr>
      </p:sp>
      <p:sp>
        <p:nvSpPr>
          <p:cNvPr id="4" name="Text 2"/>
          <p:cNvSpPr txBox="1"/>
          <p:nvPr/>
        </p:nvSpPr>
        <p:spPr>
          <a:xfrm>
            <a:off x="685800" y="1463040"/>
            <a:ext cx="3566160" cy="36576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Abstract</a:t>
            </a:r>
            <a:endParaRPr lang="en-US" sz="2000" dirty="0"/>
          </a:p>
        </p:txBody>
      </p:sp>
      <p:sp>
        <p:nvSpPr>
          <p:cNvPr id="5" name="Text 3"/>
          <p:cNvSpPr txBox="1"/>
          <p:nvPr/>
        </p:nvSpPr>
        <p:spPr>
          <a:xfrm>
            <a:off x="685800" y="1920240"/>
            <a:ext cx="3566160" cy="2560320"/>
          </a:xfrm>
          <a:prstGeom prst="rect">
            <a:avLst/>
          </a:prstGeom>
          <a:noFill/>
          <a:ln/>
        </p:spPr>
        <p:txBody>
          <a:bodyPr wrap="square" lIns="0" tIns="0" rIns="0" bIns="0" rtlCol="0" anchor="t"/>
          <a:lstStyle/>
          <a:p>
            <a:pPr indent="0" marL="0">
              <a:buNone/>
            </a:pPr>
            <a:r>
              <a:rPr lang="en-US" sz="1400" dirty="0">
                <a:solidFill>
                  <a:schemeClr val="tx1"/>
                </a:solidFill>
              </a:rPr>
              <a:t>This project analyses soil nutrient data in three stages. Data cleaning handles missing values, duplicates and invalid readings. Feature engineering builds meaningful attributes from nitrogen, phosphorus, potassium, pH and moisture. PCA then reduces the correlated features to a few principal components that keep the key patterns, revealing the major factors behind soil nutrient variation.</a:t>
            </a:r>
            <a:endParaRPr lang="en-US" sz="1400" dirty="0"/>
          </a:p>
        </p:txBody>
      </p:sp>
      <p:sp>
        <p:nvSpPr>
          <p:cNvPr id="6" name="Introduction card"/>
          <p:cNvSpPr/>
          <p:nvPr/>
        </p:nvSpPr>
        <p:spPr>
          <a:xfrm>
            <a:off x="4663440" y="1280160"/>
            <a:ext cx="4023360" cy="3337560"/>
          </a:xfrm>
          <a:prstGeom prst="roundRect">
            <a:avLst>
              <a:gd name="adj" fmla="val 2192"/>
            </a:avLst>
          </a:prstGeom>
          <a:solidFill>
            <a:schemeClr val="bg2"/>
          </a:solidFill>
          <a:ln w="12700">
            <a:solidFill>
              <a:schemeClr val="bg2"/>
            </a:solidFill>
            <a:prstDash val="solid"/>
          </a:ln>
        </p:spPr>
      </p:sp>
      <p:sp>
        <p:nvSpPr>
          <p:cNvPr id="7" name="Text 5"/>
          <p:cNvSpPr txBox="1"/>
          <p:nvPr/>
        </p:nvSpPr>
        <p:spPr>
          <a:xfrm>
            <a:off x="4892040" y="1463040"/>
            <a:ext cx="3566160" cy="36576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Introduction</a:t>
            </a:r>
            <a:endParaRPr lang="en-US" sz="2000" dirty="0"/>
          </a:p>
        </p:txBody>
      </p:sp>
      <p:sp>
        <p:nvSpPr>
          <p:cNvPr id="8" name="Text 6"/>
          <p:cNvSpPr txBox="1"/>
          <p:nvPr/>
        </p:nvSpPr>
        <p:spPr>
          <a:xfrm>
            <a:off x="4892040" y="1920240"/>
            <a:ext cx="3566160" cy="2560320"/>
          </a:xfrm>
          <a:prstGeom prst="rect">
            <a:avLst/>
          </a:prstGeom>
          <a:noFill/>
          <a:ln/>
        </p:spPr>
        <p:txBody>
          <a:bodyPr wrap="square" lIns="0" tIns="0" rIns="0" bIns="0" rtlCol="0" anchor="t"/>
          <a:lstStyle/>
          <a:p>
            <a:pPr indent="0" marL="0">
              <a:buNone/>
            </a:pPr>
            <a:r>
              <a:rPr lang="en-US" sz="1400" dirty="0">
                <a:solidFill>
                  <a:schemeClr val="tx1"/>
                </a:solidFill>
              </a:rPr>
              <a:t>Soil quality drives crop growth, but soil data has many correlated measurements that are hard to interpret together. Clean data and well-designed features make the analysis reliable, and PCA gives a simpler view of the same information. The result supports visualisation, soil classification and better agricultural decisions.</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Software requirements</a:t>
            </a:r>
            <a:endParaRPr lang="en-US" sz="3000" dirty="0"/>
          </a:p>
        </p:txBody>
      </p:sp>
      <p:sp>
        <p:nvSpPr>
          <p:cNvPr id="3" name="Icon circle 1"/>
          <p:cNvSpPr/>
          <p:nvPr/>
        </p:nvSpPr>
        <p:spPr>
          <a:xfrm>
            <a:off x="457200" y="1280160"/>
            <a:ext cx="457200" cy="457200"/>
          </a:xfrm>
          <a:prstGeom prst="ellipse">
            <a:avLst/>
          </a:prstGeom>
          <a:solidFill>
            <a:schemeClr val="accent5"/>
          </a:solidFill>
          <a:ln w="12700">
            <a:solidFill>
              <a:schemeClr val="accent5"/>
            </a:solidFill>
            <a:prstDash val="solid"/>
          </a:ln>
        </p:spPr>
      </p:sp>
      <p:pic>
        <p:nvPicPr>
          <p:cNvPr id="4" name="Image 0" descr="Operating system">    </p:cNvPr>
          <p:cNvPicPr>
            <a:picLocks noChangeAspect="1"/>
          </p:cNvPicPr>
          <p:nvPr/>
        </p:nvPicPr>
        <p:blipFill>
          <a:blip r:embed="rId1"/>
          <a:stretch>
            <a:fillRect/>
          </a:stretch>
        </p:blipFill>
        <p:spPr>
          <a:xfrm>
            <a:off x="576072" y="1399032"/>
            <a:ext cx="219456" cy="219456"/>
          </a:xfrm>
          <a:prstGeom prst="rect">
            <a:avLst/>
          </a:prstGeom>
        </p:spPr>
      </p:pic>
      <p:sp>
        <p:nvSpPr>
          <p:cNvPr id="5" name="Text 2"/>
          <p:cNvSpPr txBox="1"/>
          <p:nvPr/>
        </p:nvSpPr>
        <p:spPr>
          <a:xfrm>
            <a:off x="1143000" y="1280160"/>
            <a:ext cx="2194560" cy="457200"/>
          </a:xfrm>
          <a:prstGeom prst="rect">
            <a:avLst/>
          </a:prstGeom>
          <a:noFill/>
          <a:ln/>
        </p:spPr>
        <p:txBody>
          <a:bodyPr wrap="square" lIns="0" tIns="0" rIns="0" bIns="0" rtlCol="0" anchor="ctr"/>
          <a:lstStyle/>
          <a:p>
            <a:pPr indent="0" marL="0">
              <a:buNone/>
            </a:pPr>
            <a:r>
              <a:rPr lang="en-US" sz="1600" b="1" dirty="0">
                <a:solidFill>
                  <a:schemeClr val="accent1"/>
                </a:solidFill>
              </a:rPr>
              <a:t>Operating system</a:t>
            </a:r>
            <a:endParaRPr lang="en-US" sz="1600" dirty="0"/>
          </a:p>
        </p:txBody>
      </p:sp>
      <p:sp>
        <p:nvSpPr>
          <p:cNvPr id="6" name="Text 3"/>
          <p:cNvSpPr txBox="1"/>
          <p:nvPr/>
        </p:nvSpPr>
        <p:spPr>
          <a:xfrm>
            <a:off x="3383280" y="1280160"/>
            <a:ext cx="5303520" cy="457200"/>
          </a:xfrm>
          <a:prstGeom prst="rect">
            <a:avLst/>
          </a:prstGeom>
          <a:noFill/>
          <a:ln/>
        </p:spPr>
        <p:txBody>
          <a:bodyPr wrap="square" lIns="0" tIns="0" rIns="0" bIns="0" rtlCol="0" anchor="ctr"/>
          <a:lstStyle/>
          <a:p>
            <a:pPr indent="0" marL="0">
              <a:buNone/>
            </a:pPr>
            <a:r>
              <a:rPr lang="en-US" sz="1400" dirty="0">
                <a:solidFill>
                  <a:schemeClr val="tx1"/>
                </a:solidFill>
              </a:rPr>
              <a:t>Windows / Linux / macOS (any system that runs Node.js)</a:t>
            </a:r>
            <a:endParaRPr lang="en-US" sz="1400" dirty="0"/>
          </a:p>
        </p:txBody>
      </p:sp>
      <p:sp>
        <p:nvSpPr>
          <p:cNvPr id="7" name="Icon circle 2"/>
          <p:cNvSpPr/>
          <p:nvPr/>
        </p:nvSpPr>
        <p:spPr>
          <a:xfrm>
            <a:off x="457200" y="1956816"/>
            <a:ext cx="457200" cy="457200"/>
          </a:xfrm>
          <a:prstGeom prst="ellipse">
            <a:avLst/>
          </a:prstGeom>
          <a:solidFill>
            <a:schemeClr val="accent5"/>
          </a:solidFill>
          <a:ln w="12700">
            <a:solidFill>
              <a:schemeClr val="accent5"/>
            </a:solidFill>
            <a:prstDash val="solid"/>
          </a:ln>
        </p:spPr>
      </p:sp>
      <p:pic>
        <p:nvPicPr>
          <p:cNvPr id="8" name="Image 1" descr="Language">    </p:cNvPr>
          <p:cNvPicPr>
            <a:picLocks noChangeAspect="1"/>
          </p:cNvPicPr>
          <p:nvPr/>
        </p:nvPicPr>
        <p:blipFill>
          <a:blip r:embed="rId2"/>
          <a:stretch>
            <a:fillRect/>
          </a:stretch>
        </p:blipFill>
        <p:spPr>
          <a:xfrm>
            <a:off x="576072" y="2075688"/>
            <a:ext cx="219456" cy="219456"/>
          </a:xfrm>
          <a:prstGeom prst="rect">
            <a:avLst/>
          </a:prstGeom>
        </p:spPr>
      </p:pic>
      <p:sp>
        <p:nvSpPr>
          <p:cNvPr id="9" name="Text 5"/>
          <p:cNvSpPr txBox="1"/>
          <p:nvPr/>
        </p:nvSpPr>
        <p:spPr>
          <a:xfrm>
            <a:off x="1143000" y="1956816"/>
            <a:ext cx="2194560" cy="457200"/>
          </a:xfrm>
          <a:prstGeom prst="rect">
            <a:avLst/>
          </a:prstGeom>
          <a:noFill/>
          <a:ln/>
        </p:spPr>
        <p:txBody>
          <a:bodyPr wrap="square" lIns="0" tIns="0" rIns="0" bIns="0" rtlCol="0" anchor="ctr"/>
          <a:lstStyle/>
          <a:p>
            <a:pPr indent="0" marL="0">
              <a:buNone/>
            </a:pPr>
            <a:r>
              <a:rPr lang="en-US" sz="1600" b="1" dirty="0">
                <a:solidFill>
                  <a:schemeClr val="accent1"/>
                </a:solidFill>
              </a:rPr>
              <a:t>Language</a:t>
            </a:r>
            <a:endParaRPr lang="en-US" sz="1600" dirty="0"/>
          </a:p>
        </p:txBody>
      </p:sp>
      <p:sp>
        <p:nvSpPr>
          <p:cNvPr id="10" name="Text 6"/>
          <p:cNvSpPr txBox="1"/>
          <p:nvPr/>
        </p:nvSpPr>
        <p:spPr>
          <a:xfrm>
            <a:off x="3383280" y="1956816"/>
            <a:ext cx="5303520" cy="457200"/>
          </a:xfrm>
          <a:prstGeom prst="rect">
            <a:avLst/>
          </a:prstGeom>
          <a:noFill/>
          <a:ln/>
        </p:spPr>
        <p:txBody>
          <a:bodyPr wrap="square" lIns="0" tIns="0" rIns="0" bIns="0" rtlCol="0" anchor="ctr"/>
          <a:lstStyle/>
          <a:p>
            <a:pPr indent="0" marL="0">
              <a:buNone/>
            </a:pPr>
            <a:r>
              <a:rPr lang="en-US" sz="1400" dirty="0">
                <a:solidFill>
                  <a:schemeClr val="tx1"/>
                </a:solidFill>
              </a:rPr>
              <a:t>TypeScript with React 19</a:t>
            </a:r>
            <a:endParaRPr lang="en-US" sz="1400" dirty="0"/>
          </a:p>
        </p:txBody>
      </p:sp>
      <p:sp>
        <p:nvSpPr>
          <p:cNvPr id="11" name="Icon circle 3"/>
          <p:cNvSpPr/>
          <p:nvPr/>
        </p:nvSpPr>
        <p:spPr>
          <a:xfrm>
            <a:off x="457200" y="2633472"/>
            <a:ext cx="457200" cy="457200"/>
          </a:xfrm>
          <a:prstGeom prst="ellipse">
            <a:avLst/>
          </a:prstGeom>
          <a:solidFill>
            <a:schemeClr val="accent5"/>
          </a:solidFill>
          <a:ln w="12700">
            <a:solidFill>
              <a:schemeClr val="accent5"/>
            </a:solidFill>
            <a:prstDash val="solid"/>
          </a:ln>
        </p:spPr>
      </p:sp>
      <p:pic>
        <p:nvPicPr>
          <p:cNvPr id="12" name="Image 2" descr="Tools and libraries">    </p:cNvPr>
          <p:cNvPicPr>
            <a:picLocks noChangeAspect="1"/>
          </p:cNvPicPr>
          <p:nvPr/>
        </p:nvPicPr>
        <p:blipFill>
          <a:blip r:embed="rId3"/>
          <a:stretch>
            <a:fillRect/>
          </a:stretch>
        </p:blipFill>
        <p:spPr>
          <a:xfrm>
            <a:off x="576072" y="2752344"/>
            <a:ext cx="219456" cy="219456"/>
          </a:xfrm>
          <a:prstGeom prst="rect">
            <a:avLst/>
          </a:prstGeom>
        </p:spPr>
      </p:pic>
      <p:sp>
        <p:nvSpPr>
          <p:cNvPr id="13" name="Text 8"/>
          <p:cNvSpPr txBox="1"/>
          <p:nvPr/>
        </p:nvSpPr>
        <p:spPr>
          <a:xfrm>
            <a:off x="1143000" y="2633472"/>
            <a:ext cx="2194560" cy="457200"/>
          </a:xfrm>
          <a:prstGeom prst="rect">
            <a:avLst/>
          </a:prstGeom>
          <a:noFill/>
          <a:ln/>
        </p:spPr>
        <p:txBody>
          <a:bodyPr wrap="square" lIns="0" tIns="0" rIns="0" bIns="0" rtlCol="0" anchor="ctr"/>
          <a:lstStyle/>
          <a:p>
            <a:pPr indent="0" marL="0">
              <a:buNone/>
            </a:pPr>
            <a:r>
              <a:rPr lang="en-US" sz="1600" b="1" dirty="0">
                <a:solidFill>
                  <a:schemeClr val="accent1"/>
                </a:solidFill>
              </a:rPr>
              <a:t>Tools and libraries</a:t>
            </a:r>
            <a:endParaRPr lang="en-US" sz="1600" dirty="0"/>
          </a:p>
        </p:txBody>
      </p:sp>
      <p:sp>
        <p:nvSpPr>
          <p:cNvPr id="14" name="Text 9"/>
          <p:cNvSpPr txBox="1"/>
          <p:nvPr/>
        </p:nvSpPr>
        <p:spPr>
          <a:xfrm>
            <a:off x="3383280" y="2633472"/>
            <a:ext cx="5303520" cy="457200"/>
          </a:xfrm>
          <a:prstGeom prst="rect">
            <a:avLst/>
          </a:prstGeom>
          <a:noFill/>
          <a:ln/>
        </p:spPr>
        <p:txBody>
          <a:bodyPr wrap="square" lIns="0" tIns="0" rIns="0" bIns="0" rtlCol="0" anchor="ctr"/>
          <a:lstStyle/>
          <a:p>
            <a:pPr indent="0" marL="0">
              <a:buNone/>
            </a:pPr>
            <a:r>
              <a:rPr lang="en-US" sz="1400" dirty="0">
                <a:solidFill>
                  <a:schemeClr val="tx1"/>
                </a:solidFill>
              </a:rPr>
              <a:t>Vite, Tailwind CSS, Lucide icons, Motion</a:t>
            </a:r>
            <a:endParaRPr lang="en-US" sz="1400" dirty="0"/>
          </a:p>
        </p:txBody>
      </p:sp>
      <p:sp>
        <p:nvSpPr>
          <p:cNvPr id="15" name="Icon circle 4"/>
          <p:cNvSpPr/>
          <p:nvPr/>
        </p:nvSpPr>
        <p:spPr>
          <a:xfrm>
            <a:off x="457200" y="3310128"/>
            <a:ext cx="457200" cy="457200"/>
          </a:xfrm>
          <a:prstGeom prst="ellipse">
            <a:avLst/>
          </a:prstGeom>
          <a:solidFill>
            <a:schemeClr val="accent5"/>
          </a:solidFill>
          <a:ln w="12700">
            <a:solidFill>
              <a:schemeClr val="accent5"/>
            </a:solidFill>
            <a:prstDash val="solid"/>
          </a:ln>
        </p:spPr>
      </p:sp>
      <p:pic>
        <p:nvPicPr>
          <p:cNvPr id="16" name="Image 3" descr="Algorithms">    </p:cNvPr>
          <p:cNvPicPr>
            <a:picLocks noChangeAspect="1"/>
          </p:cNvPicPr>
          <p:nvPr/>
        </p:nvPicPr>
        <p:blipFill>
          <a:blip r:embed="rId4"/>
          <a:stretch>
            <a:fillRect/>
          </a:stretch>
        </p:blipFill>
        <p:spPr>
          <a:xfrm>
            <a:off x="576072" y="3429000"/>
            <a:ext cx="219456" cy="219456"/>
          </a:xfrm>
          <a:prstGeom prst="rect">
            <a:avLst/>
          </a:prstGeom>
        </p:spPr>
      </p:pic>
      <p:sp>
        <p:nvSpPr>
          <p:cNvPr id="17" name="Text 11"/>
          <p:cNvSpPr txBox="1"/>
          <p:nvPr/>
        </p:nvSpPr>
        <p:spPr>
          <a:xfrm>
            <a:off x="1143000" y="3310128"/>
            <a:ext cx="2194560" cy="457200"/>
          </a:xfrm>
          <a:prstGeom prst="rect">
            <a:avLst/>
          </a:prstGeom>
          <a:noFill/>
          <a:ln/>
        </p:spPr>
        <p:txBody>
          <a:bodyPr wrap="square" lIns="0" tIns="0" rIns="0" bIns="0" rtlCol="0" anchor="ctr"/>
          <a:lstStyle/>
          <a:p>
            <a:pPr indent="0" marL="0">
              <a:buNone/>
            </a:pPr>
            <a:r>
              <a:rPr lang="en-US" sz="1600" b="1" dirty="0">
                <a:solidFill>
                  <a:schemeClr val="accent1"/>
                </a:solidFill>
              </a:rPr>
              <a:t>Algorithms</a:t>
            </a:r>
            <a:endParaRPr lang="en-US" sz="1600" dirty="0"/>
          </a:p>
        </p:txBody>
      </p:sp>
      <p:sp>
        <p:nvSpPr>
          <p:cNvPr id="18" name="Text 12"/>
          <p:cNvSpPr txBox="1"/>
          <p:nvPr/>
        </p:nvSpPr>
        <p:spPr>
          <a:xfrm>
            <a:off x="3383280" y="3310128"/>
            <a:ext cx="5303520" cy="457200"/>
          </a:xfrm>
          <a:prstGeom prst="rect">
            <a:avLst/>
          </a:prstGeom>
          <a:noFill/>
          <a:ln/>
        </p:spPr>
        <p:txBody>
          <a:bodyPr wrap="square" lIns="0" tIns="0" rIns="0" bIns="0" rtlCol="0" anchor="ctr"/>
          <a:lstStyle/>
          <a:p>
            <a:pPr indent="0" marL="0">
              <a:buNone/>
            </a:pPr>
            <a:r>
              <a:rPr lang="en-US" sz="1400" dirty="0">
                <a:solidFill>
                  <a:schemeClr val="tx1"/>
                </a:solidFill>
              </a:rPr>
              <a:t>PCA (Jacobi eigenvalue method) and k-NN, built from scratch</a:t>
            </a:r>
            <a:endParaRPr lang="en-US" sz="1400" dirty="0"/>
          </a:p>
        </p:txBody>
      </p:sp>
      <p:sp>
        <p:nvSpPr>
          <p:cNvPr id="19" name="Icon circle 5"/>
          <p:cNvSpPr/>
          <p:nvPr/>
        </p:nvSpPr>
        <p:spPr>
          <a:xfrm>
            <a:off x="457200" y="3986784"/>
            <a:ext cx="457200" cy="457200"/>
          </a:xfrm>
          <a:prstGeom prst="ellipse">
            <a:avLst/>
          </a:prstGeom>
          <a:solidFill>
            <a:schemeClr val="accent5"/>
          </a:solidFill>
          <a:ln w="12700">
            <a:solidFill>
              <a:schemeClr val="accent5"/>
            </a:solidFill>
            <a:prstDash val="solid"/>
          </a:ln>
        </p:spPr>
      </p:sp>
      <p:pic>
        <p:nvPicPr>
          <p:cNvPr id="20" name="Image 4" descr="Dataset">    </p:cNvPr>
          <p:cNvPicPr>
            <a:picLocks noChangeAspect="1"/>
          </p:cNvPicPr>
          <p:nvPr/>
        </p:nvPicPr>
        <p:blipFill>
          <a:blip r:embed="rId5"/>
          <a:stretch>
            <a:fillRect/>
          </a:stretch>
        </p:blipFill>
        <p:spPr>
          <a:xfrm>
            <a:off x="576072" y="4105656"/>
            <a:ext cx="219456" cy="219456"/>
          </a:xfrm>
          <a:prstGeom prst="rect">
            <a:avLst/>
          </a:prstGeom>
        </p:spPr>
      </p:pic>
      <p:sp>
        <p:nvSpPr>
          <p:cNvPr id="21" name="Text 14"/>
          <p:cNvSpPr txBox="1"/>
          <p:nvPr/>
        </p:nvSpPr>
        <p:spPr>
          <a:xfrm>
            <a:off x="1143000" y="3986784"/>
            <a:ext cx="2194560" cy="457200"/>
          </a:xfrm>
          <a:prstGeom prst="rect">
            <a:avLst/>
          </a:prstGeom>
          <a:noFill/>
          <a:ln/>
        </p:spPr>
        <p:txBody>
          <a:bodyPr wrap="square" lIns="0" tIns="0" rIns="0" bIns="0" rtlCol="0" anchor="ctr"/>
          <a:lstStyle/>
          <a:p>
            <a:pPr indent="0" marL="0">
              <a:buNone/>
            </a:pPr>
            <a:r>
              <a:rPr lang="en-US" sz="1600" b="1" dirty="0">
                <a:solidFill>
                  <a:schemeClr val="accent1"/>
                </a:solidFill>
              </a:rPr>
              <a:t>Dataset</a:t>
            </a:r>
            <a:endParaRPr lang="en-US" sz="1600" dirty="0"/>
          </a:p>
        </p:txBody>
      </p:sp>
      <p:sp>
        <p:nvSpPr>
          <p:cNvPr id="22" name="Text 15"/>
          <p:cNvSpPr txBox="1"/>
          <p:nvPr/>
        </p:nvSpPr>
        <p:spPr>
          <a:xfrm>
            <a:off x="3383280" y="3986784"/>
            <a:ext cx="5303520" cy="457200"/>
          </a:xfrm>
          <a:prstGeom prst="rect">
            <a:avLst/>
          </a:prstGeom>
          <a:noFill/>
          <a:ln/>
        </p:spPr>
        <p:txBody>
          <a:bodyPr wrap="square" lIns="0" tIns="0" rIns="0" bIns="0" rtlCol="0" anchor="ctr"/>
          <a:lstStyle/>
          <a:p>
            <a:pPr indent="0" marL="0">
              <a:buNone/>
            </a:pPr>
            <a:r>
              <a:rPr lang="en-US" sz="1400" dirty="0">
                <a:solidFill>
                  <a:schemeClr val="tx1"/>
                </a:solidFill>
              </a:rPr>
              <a:t>Crop-recommendation soil data: N, P, K, temperature, humidity, pH, rainfall</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Project execution: end to end</a:t>
            </a:r>
            <a:endParaRPr lang="en-US" sz="3000" dirty="0"/>
          </a:p>
        </p:txBody>
      </p:sp>
      <p:sp>
        <p:nvSpPr>
          <p:cNvPr id="3" name="Step card 1"/>
          <p:cNvSpPr/>
          <p:nvPr/>
        </p:nvSpPr>
        <p:spPr>
          <a:xfrm>
            <a:off x="457200" y="1280160"/>
            <a:ext cx="1920240" cy="1600200"/>
          </a:xfrm>
          <a:prstGeom prst="roundRect">
            <a:avLst>
              <a:gd name="adj" fmla="val 4571"/>
            </a:avLst>
          </a:prstGeom>
          <a:solidFill>
            <a:schemeClr val="bg2"/>
          </a:solidFill>
          <a:ln w="12700">
            <a:solidFill>
              <a:schemeClr val="bg2"/>
            </a:solidFill>
            <a:prstDash val="solid"/>
          </a:ln>
        </p:spPr>
      </p:sp>
      <p:sp>
        <p:nvSpPr>
          <p:cNvPr id="4" name="Step number circle 1"/>
          <p:cNvSpPr/>
          <p:nvPr/>
        </p:nvSpPr>
        <p:spPr>
          <a:xfrm>
            <a:off x="594360" y="1417320"/>
            <a:ext cx="365760" cy="365760"/>
          </a:xfrm>
          <a:prstGeom prst="ellipse">
            <a:avLst/>
          </a:prstGeom>
          <a:solidFill>
            <a:schemeClr val="accent1"/>
          </a:solidFill>
          <a:ln w="12700">
            <a:solidFill>
              <a:schemeClr val="accent1"/>
            </a:solidFill>
            <a:prstDash val="solid"/>
          </a:ln>
        </p:spPr>
      </p:sp>
      <p:sp>
        <p:nvSpPr>
          <p:cNvPr id="5" name="Text 3"/>
          <p:cNvSpPr txBox="1"/>
          <p:nvPr/>
        </p:nvSpPr>
        <p:spPr>
          <a:xfrm>
            <a:off x="594360" y="14173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594360" y="1847088"/>
            <a:ext cx="1691640" cy="411480"/>
          </a:xfrm>
          <a:prstGeom prst="rect">
            <a:avLst/>
          </a:prstGeom>
          <a:noFill/>
          <a:ln/>
        </p:spPr>
        <p:txBody>
          <a:bodyPr wrap="square" lIns="0" tIns="0" rIns="0" bIns="0" rtlCol="0" anchor="t"/>
          <a:lstStyle/>
          <a:p>
            <a:pPr indent="0" marL="0">
              <a:buNone/>
            </a:pPr>
            <a:r>
              <a:rPr lang="en-US" sz="1400" b="1" dirty="0">
                <a:solidFill>
                  <a:schemeClr val="accent1"/>
                </a:solidFill>
              </a:rPr>
              <a:t>Data collection</a:t>
            </a:r>
            <a:endParaRPr lang="en-US" sz="1400" dirty="0"/>
          </a:p>
        </p:txBody>
      </p:sp>
      <p:sp>
        <p:nvSpPr>
          <p:cNvPr id="7" name="Text 5"/>
          <p:cNvSpPr txBox="1"/>
          <p:nvPr/>
        </p:nvSpPr>
        <p:spPr>
          <a:xfrm>
            <a:off x="594360" y="2267712"/>
            <a:ext cx="1691640" cy="566928"/>
          </a:xfrm>
          <a:prstGeom prst="rect">
            <a:avLst/>
          </a:prstGeom>
          <a:noFill/>
          <a:ln/>
        </p:spPr>
        <p:txBody>
          <a:bodyPr wrap="square" lIns="0" tIns="0" rIns="0" bIns="0" rtlCol="0" anchor="t"/>
          <a:lstStyle/>
          <a:p>
            <a:pPr indent="0" marL="0">
              <a:buNone/>
            </a:pPr>
            <a:r>
              <a:rPr lang="en-US" sz="1200" dirty="0">
                <a:solidFill>
                  <a:schemeClr val="tx1"/>
                </a:solidFill>
              </a:rPr>
              <a:t>470 soil samples across 22 crops: N, P, K, climate, pH</a:t>
            </a:r>
            <a:endParaRPr lang="en-US" sz="1200" dirty="0"/>
          </a:p>
        </p:txBody>
      </p:sp>
      <p:sp>
        <p:nvSpPr>
          <p:cNvPr id="8" name="Step card 2"/>
          <p:cNvSpPr/>
          <p:nvPr/>
        </p:nvSpPr>
        <p:spPr>
          <a:xfrm>
            <a:off x="2560320" y="1280160"/>
            <a:ext cx="1920240" cy="1600200"/>
          </a:xfrm>
          <a:prstGeom prst="roundRect">
            <a:avLst>
              <a:gd name="adj" fmla="val 4571"/>
            </a:avLst>
          </a:prstGeom>
          <a:solidFill>
            <a:schemeClr val="bg2"/>
          </a:solidFill>
          <a:ln w="12700">
            <a:solidFill>
              <a:schemeClr val="bg2"/>
            </a:solidFill>
            <a:prstDash val="solid"/>
          </a:ln>
        </p:spPr>
      </p:sp>
      <p:sp>
        <p:nvSpPr>
          <p:cNvPr id="9" name="Step number circle 2"/>
          <p:cNvSpPr/>
          <p:nvPr/>
        </p:nvSpPr>
        <p:spPr>
          <a:xfrm>
            <a:off x="2697480" y="141732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2697480" y="14173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2697480" y="1847088"/>
            <a:ext cx="1691640" cy="411480"/>
          </a:xfrm>
          <a:prstGeom prst="rect">
            <a:avLst/>
          </a:prstGeom>
          <a:noFill/>
          <a:ln/>
        </p:spPr>
        <p:txBody>
          <a:bodyPr wrap="square" lIns="0" tIns="0" rIns="0" bIns="0" rtlCol="0" anchor="t"/>
          <a:lstStyle/>
          <a:p>
            <a:pPr indent="0" marL="0">
              <a:buNone/>
            </a:pPr>
            <a:r>
              <a:rPr lang="en-US" sz="1400" b="1" dirty="0">
                <a:solidFill>
                  <a:schemeClr val="accent1"/>
                </a:solidFill>
              </a:rPr>
              <a:t>Data cleaning</a:t>
            </a:r>
            <a:endParaRPr lang="en-US" sz="1400" dirty="0"/>
          </a:p>
        </p:txBody>
      </p:sp>
      <p:sp>
        <p:nvSpPr>
          <p:cNvPr id="12" name="Text 10"/>
          <p:cNvSpPr txBox="1"/>
          <p:nvPr/>
        </p:nvSpPr>
        <p:spPr>
          <a:xfrm>
            <a:off x="2697480" y="2267712"/>
            <a:ext cx="1691640" cy="566928"/>
          </a:xfrm>
          <a:prstGeom prst="rect">
            <a:avLst/>
          </a:prstGeom>
          <a:noFill/>
          <a:ln/>
        </p:spPr>
        <p:txBody>
          <a:bodyPr wrap="square" lIns="0" tIns="0" rIns="0" bIns="0" rtlCol="0" anchor="t"/>
          <a:lstStyle/>
          <a:p>
            <a:pPr indent="0" marL="0">
              <a:buNone/>
            </a:pPr>
            <a:r>
              <a:rPr lang="en-US" sz="1200" dirty="0">
                <a:solidFill>
                  <a:schemeClr val="tx1"/>
                </a:solidFill>
              </a:rPr>
              <a:t>Impute missing values, drop duplicates, fix invalid readings</a:t>
            </a:r>
            <a:endParaRPr lang="en-US" sz="1200" dirty="0"/>
          </a:p>
        </p:txBody>
      </p:sp>
      <p:sp>
        <p:nvSpPr>
          <p:cNvPr id="13" name="Step card 3"/>
          <p:cNvSpPr/>
          <p:nvPr/>
        </p:nvSpPr>
        <p:spPr>
          <a:xfrm>
            <a:off x="4663440" y="1280160"/>
            <a:ext cx="1920240" cy="1600200"/>
          </a:xfrm>
          <a:prstGeom prst="roundRect">
            <a:avLst>
              <a:gd name="adj" fmla="val 4571"/>
            </a:avLst>
          </a:prstGeom>
          <a:solidFill>
            <a:schemeClr val="bg2"/>
          </a:solidFill>
          <a:ln w="12700">
            <a:solidFill>
              <a:schemeClr val="bg2"/>
            </a:solidFill>
            <a:prstDash val="solid"/>
          </a:ln>
        </p:spPr>
      </p:sp>
      <p:sp>
        <p:nvSpPr>
          <p:cNvPr id="14" name="Step number circle 3"/>
          <p:cNvSpPr/>
          <p:nvPr/>
        </p:nvSpPr>
        <p:spPr>
          <a:xfrm>
            <a:off x="4800600" y="1417320"/>
            <a:ext cx="365760" cy="365760"/>
          </a:xfrm>
          <a:prstGeom prst="ellipse">
            <a:avLst/>
          </a:prstGeom>
          <a:solidFill>
            <a:schemeClr val="accent1"/>
          </a:solidFill>
          <a:ln w="12700">
            <a:solidFill>
              <a:schemeClr val="accent1"/>
            </a:solidFill>
            <a:prstDash val="solid"/>
          </a:ln>
        </p:spPr>
      </p:sp>
      <p:sp>
        <p:nvSpPr>
          <p:cNvPr id="15" name="Text 13"/>
          <p:cNvSpPr txBox="1"/>
          <p:nvPr/>
        </p:nvSpPr>
        <p:spPr>
          <a:xfrm>
            <a:off x="4800600" y="14173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4800600" y="1847088"/>
            <a:ext cx="1691640" cy="411480"/>
          </a:xfrm>
          <a:prstGeom prst="rect">
            <a:avLst/>
          </a:prstGeom>
          <a:noFill/>
          <a:ln/>
        </p:spPr>
        <p:txBody>
          <a:bodyPr wrap="square" lIns="0" tIns="0" rIns="0" bIns="0" rtlCol="0" anchor="t"/>
          <a:lstStyle/>
          <a:p>
            <a:pPr indent="0" marL="0">
              <a:buNone/>
            </a:pPr>
            <a:r>
              <a:rPr lang="en-US" sz="1400" b="1" dirty="0">
                <a:solidFill>
                  <a:schemeClr val="accent1"/>
                </a:solidFill>
              </a:rPr>
              <a:t>Outlier check</a:t>
            </a:r>
            <a:endParaRPr lang="en-US" sz="1400" dirty="0"/>
          </a:p>
        </p:txBody>
      </p:sp>
      <p:sp>
        <p:nvSpPr>
          <p:cNvPr id="17" name="Text 15"/>
          <p:cNvSpPr txBox="1"/>
          <p:nvPr/>
        </p:nvSpPr>
        <p:spPr>
          <a:xfrm>
            <a:off x="4800600" y="2267712"/>
            <a:ext cx="1691640" cy="566928"/>
          </a:xfrm>
          <a:prstGeom prst="rect">
            <a:avLst/>
          </a:prstGeom>
          <a:noFill/>
          <a:ln/>
        </p:spPr>
        <p:txBody>
          <a:bodyPr wrap="square" lIns="0" tIns="0" rIns="0" bIns="0" rtlCol="0" anchor="t"/>
          <a:lstStyle/>
          <a:p>
            <a:pPr indent="0" marL="0">
              <a:buNone/>
            </a:pPr>
            <a:r>
              <a:rPr lang="en-US" sz="1200" dirty="0">
                <a:solidFill>
                  <a:schemeClr val="tx1"/>
                </a:solidFill>
              </a:rPr>
              <a:t>IQR fences flag unusual samples for review</a:t>
            </a:r>
            <a:endParaRPr lang="en-US" sz="1200" dirty="0"/>
          </a:p>
        </p:txBody>
      </p:sp>
      <p:sp>
        <p:nvSpPr>
          <p:cNvPr id="18" name="Step card 4"/>
          <p:cNvSpPr/>
          <p:nvPr/>
        </p:nvSpPr>
        <p:spPr>
          <a:xfrm>
            <a:off x="6766560" y="1280160"/>
            <a:ext cx="1920240" cy="1600200"/>
          </a:xfrm>
          <a:prstGeom prst="roundRect">
            <a:avLst>
              <a:gd name="adj" fmla="val 4571"/>
            </a:avLst>
          </a:prstGeom>
          <a:solidFill>
            <a:schemeClr val="bg2"/>
          </a:solidFill>
          <a:ln w="12700">
            <a:solidFill>
              <a:schemeClr val="bg2"/>
            </a:solidFill>
            <a:prstDash val="solid"/>
          </a:ln>
        </p:spPr>
      </p:sp>
      <p:sp>
        <p:nvSpPr>
          <p:cNvPr id="19" name="Step number circle 4"/>
          <p:cNvSpPr/>
          <p:nvPr/>
        </p:nvSpPr>
        <p:spPr>
          <a:xfrm>
            <a:off x="6903720" y="1417320"/>
            <a:ext cx="365760" cy="365760"/>
          </a:xfrm>
          <a:prstGeom prst="ellipse">
            <a:avLst/>
          </a:prstGeom>
          <a:solidFill>
            <a:schemeClr val="accent1"/>
          </a:solidFill>
          <a:ln w="12700">
            <a:solidFill>
              <a:schemeClr val="accent1"/>
            </a:solidFill>
            <a:prstDash val="solid"/>
          </a:ln>
        </p:spPr>
      </p:sp>
      <p:sp>
        <p:nvSpPr>
          <p:cNvPr id="20" name="Text 18"/>
          <p:cNvSpPr txBox="1"/>
          <p:nvPr/>
        </p:nvSpPr>
        <p:spPr>
          <a:xfrm>
            <a:off x="6903720" y="14173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6903720" y="1847088"/>
            <a:ext cx="1691640" cy="411480"/>
          </a:xfrm>
          <a:prstGeom prst="rect">
            <a:avLst/>
          </a:prstGeom>
          <a:noFill/>
          <a:ln/>
        </p:spPr>
        <p:txBody>
          <a:bodyPr wrap="square" lIns="0" tIns="0" rIns="0" bIns="0" rtlCol="0" anchor="t"/>
          <a:lstStyle/>
          <a:p>
            <a:pPr indent="0" marL="0">
              <a:buNone/>
            </a:pPr>
            <a:r>
              <a:rPr lang="en-US" sz="1400" b="1" dirty="0">
                <a:solidFill>
                  <a:schemeClr val="accent1"/>
                </a:solidFill>
              </a:rPr>
              <a:t>Feature engineering</a:t>
            </a:r>
            <a:endParaRPr lang="en-US" sz="1400" dirty="0"/>
          </a:p>
        </p:txBody>
      </p:sp>
      <p:sp>
        <p:nvSpPr>
          <p:cNvPr id="22" name="Text 20"/>
          <p:cNvSpPr txBox="1"/>
          <p:nvPr/>
        </p:nvSpPr>
        <p:spPr>
          <a:xfrm>
            <a:off x="6903720" y="2267712"/>
            <a:ext cx="1691640" cy="566928"/>
          </a:xfrm>
          <a:prstGeom prst="rect">
            <a:avLst/>
          </a:prstGeom>
          <a:noFill/>
          <a:ln/>
        </p:spPr>
        <p:txBody>
          <a:bodyPr wrap="square" lIns="0" tIns="0" rIns="0" bIns="0" rtlCol="0" anchor="t"/>
          <a:lstStyle/>
          <a:p>
            <a:pPr indent="0" marL="0">
              <a:buNone/>
            </a:pPr>
            <a:r>
              <a:rPr lang="en-US" sz="1200" dirty="0">
                <a:solidFill>
                  <a:schemeClr val="tx1"/>
                </a:solidFill>
              </a:rPr>
              <a:t>8 derived features such as moisture index and N:P ratio</a:t>
            </a:r>
            <a:endParaRPr lang="en-US" sz="1200" dirty="0"/>
          </a:p>
        </p:txBody>
      </p:sp>
      <p:sp>
        <p:nvSpPr>
          <p:cNvPr id="23" name="Step card 5"/>
          <p:cNvSpPr/>
          <p:nvPr/>
        </p:nvSpPr>
        <p:spPr>
          <a:xfrm>
            <a:off x="457200" y="3063240"/>
            <a:ext cx="1920240" cy="1600200"/>
          </a:xfrm>
          <a:prstGeom prst="roundRect">
            <a:avLst>
              <a:gd name="adj" fmla="val 4571"/>
            </a:avLst>
          </a:prstGeom>
          <a:solidFill>
            <a:schemeClr val="bg2"/>
          </a:solidFill>
          <a:ln w="12700">
            <a:solidFill>
              <a:schemeClr val="bg2"/>
            </a:solidFill>
            <a:prstDash val="solid"/>
          </a:ln>
        </p:spPr>
      </p:sp>
      <p:sp>
        <p:nvSpPr>
          <p:cNvPr id="24" name="Step number circle 5"/>
          <p:cNvSpPr/>
          <p:nvPr/>
        </p:nvSpPr>
        <p:spPr>
          <a:xfrm>
            <a:off x="594360" y="3200400"/>
            <a:ext cx="365760" cy="365760"/>
          </a:xfrm>
          <a:prstGeom prst="ellipse">
            <a:avLst/>
          </a:prstGeom>
          <a:solidFill>
            <a:schemeClr val="accent1"/>
          </a:solidFill>
          <a:ln w="12700">
            <a:solidFill>
              <a:schemeClr val="accent1"/>
            </a:solidFill>
            <a:prstDash val="solid"/>
          </a:ln>
        </p:spPr>
      </p:sp>
      <p:sp>
        <p:nvSpPr>
          <p:cNvPr id="25" name="Text 23"/>
          <p:cNvSpPr txBox="1"/>
          <p:nvPr/>
        </p:nvSpPr>
        <p:spPr>
          <a:xfrm>
            <a:off x="594360" y="32004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 24"/>
          <p:cNvSpPr txBox="1"/>
          <p:nvPr/>
        </p:nvSpPr>
        <p:spPr>
          <a:xfrm>
            <a:off x="594360" y="3630168"/>
            <a:ext cx="1691640" cy="411480"/>
          </a:xfrm>
          <a:prstGeom prst="rect">
            <a:avLst/>
          </a:prstGeom>
          <a:noFill/>
          <a:ln/>
        </p:spPr>
        <p:txBody>
          <a:bodyPr wrap="square" lIns="0" tIns="0" rIns="0" bIns="0" rtlCol="0" anchor="t"/>
          <a:lstStyle/>
          <a:p>
            <a:pPr indent="0" marL="0">
              <a:buNone/>
            </a:pPr>
            <a:r>
              <a:rPr lang="en-US" sz="1400" b="1" dirty="0">
                <a:solidFill>
                  <a:schemeClr val="accent1"/>
                </a:solidFill>
              </a:rPr>
              <a:t>Standardisation</a:t>
            </a:r>
            <a:endParaRPr lang="en-US" sz="1400" dirty="0"/>
          </a:p>
        </p:txBody>
      </p:sp>
      <p:sp>
        <p:nvSpPr>
          <p:cNvPr id="27" name="Text 25"/>
          <p:cNvSpPr txBox="1"/>
          <p:nvPr/>
        </p:nvSpPr>
        <p:spPr>
          <a:xfrm>
            <a:off x="594360" y="4050792"/>
            <a:ext cx="1691640" cy="566928"/>
          </a:xfrm>
          <a:prstGeom prst="rect">
            <a:avLst/>
          </a:prstGeom>
          <a:noFill/>
          <a:ln/>
        </p:spPr>
        <p:txBody>
          <a:bodyPr wrap="square" lIns="0" tIns="0" rIns="0" bIns="0" rtlCol="0" anchor="t"/>
          <a:lstStyle/>
          <a:p>
            <a:pPr indent="0" marL="0">
              <a:buNone/>
            </a:pPr>
            <a:r>
              <a:rPr lang="en-US" sz="1200" dirty="0">
                <a:solidFill>
                  <a:schemeClr val="tx1"/>
                </a:solidFill>
              </a:rPr>
              <a:t>Z-score scaling puts all features on one scale</a:t>
            </a:r>
            <a:endParaRPr lang="en-US" sz="1200" dirty="0"/>
          </a:p>
        </p:txBody>
      </p:sp>
      <p:sp>
        <p:nvSpPr>
          <p:cNvPr id="28" name="Step card 6"/>
          <p:cNvSpPr/>
          <p:nvPr/>
        </p:nvSpPr>
        <p:spPr>
          <a:xfrm>
            <a:off x="2560320" y="3063240"/>
            <a:ext cx="1920240" cy="1600200"/>
          </a:xfrm>
          <a:prstGeom prst="roundRect">
            <a:avLst>
              <a:gd name="adj" fmla="val 4571"/>
            </a:avLst>
          </a:prstGeom>
          <a:solidFill>
            <a:schemeClr val="bg2"/>
          </a:solidFill>
          <a:ln w="12700">
            <a:solidFill>
              <a:schemeClr val="bg2"/>
            </a:solidFill>
            <a:prstDash val="solid"/>
          </a:ln>
        </p:spPr>
      </p:sp>
      <p:sp>
        <p:nvSpPr>
          <p:cNvPr id="29" name="Step number circle 6"/>
          <p:cNvSpPr/>
          <p:nvPr/>
        </p:nvSpPr>
        <p:spPr>
          <a:xfrm>
            <a:off x="2697480" y="3200400"/>
            <a:ext cx="365760" cy="365760"/>
          </a:xfrm>
          <a:prstGeom prst="ellipse">
            <a:avLst/>
          </a:prstGeom>
          <a:solidFill>
            <a:schemeClr val="accent1"/>
          </a:solidFill>
          <a:ln w="12700">
            <a:solidFill>
              <a:schemeClr val="accent1"/>
            </a:solidFill>
            <a:prstDash val="solid"/>
          </a:ln>
        </p:spPr>
      </p:sp>
      <p:sp>
        <p:nvSpPr>
          <p:cNvPr id="30" name="Text 28"/>
          <p:cNvSpPr txBox="1"/>
          <p:nvPr/>
        </p:nvSpPr>
        <p:spPr>
          <a:xfrm>
            <a:off x="2697480" y="32004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Text 29"/>
          <p:cNvSpPr txBox="1"/>
          <p:nvPr/>
        </p:nvSpPr>
        <p:spPr>
          <a:xfrm>
            <a:off x="2697480" y="3630168"/>
            <a:ext cx="1691640" cy="411480"/>
          </a:xfrm>
          <a:prstGeom prst="rect">
            <a:avLst/>
          </a:prstGeom>
          <a:noFill/>
          <a:ln/>
        </p:spPr>
        <p:txBody>
          <a:bodyPr wrap="square" lIns="0" tIns="0" rIns="0" bIns="0" rtlCol="0" anchor="t"/>
          <a:lstStyle/>
          <a:p>
            <a:pPr indent="0" marL="0">
              <a:buNone/>
            </a:pPr>
            <a:r>
              <a:rPr lang="en-US" sz="1400" b="1" dirty="0">
                <a:solidFill>
                  <a:schemeClr val="accent1"/>
                </a:solidFill>
              </a:rPr>
              <a:t>PCA</a:t>
            </a:r>
            <a:endParaRPr lang="en-US" sz="1400" dirty="0"/>
          </a:p>
        </p:txBody>
      </p:sp>
      <p:sp>
        <p:nvSpPr>
          <p:cNvPr id="32" name="Text 30"/>
          <p:cNvSpPr txBox="1"/>
          <p:nvPr/>
        </p:nvSpPr>
        <p:spPr>
          <a:xfrm>
            <a:off x="2697480" y="4050792"/>
            <a:ext cx="1691640" cy="566928"/>
          </a:xfrm>
          <a:prstGeom prst="rect">
            <a:avLst/>
          </a:prstGeom>
          <a:noFill/>
          <a:ln/>
        </p:spPr>
        <p:txBody>
          <a:bodyPr wrap="square" lIns="0" tIns="0" rIns="0" bIns="0" rtlCol="0" anchor="t"/>
          <a:lstStyle/>
          <a:p>
            <a:pPr indent="0" marL="0">
              <a:buNone/>
            </a:pPr>
            <a:r>
              <a:rPr lang="en-US" sz="1200" dirty="0">
                <a:solidFill>
                  <a:schemeClr val="tx1"/>
                </a:solidFill>
              </a:rPr>
              <a:t>Covariance matrix and eigen-decomposition give the components</a:t>
            </a:r>
            <a:endParaRPr lang="en-US" sz="1200" dirty="0"/>
          </a:p>
        </p:txBody>
      </p:sp>
      <p:sp>
        <p:nvSpPr>
          <p:cNvPr id="33" name="Step card 7"/>
          <p:cNvSpPr/>
          <p:nvPr/>
        </p:nvSpPr>
        <p:spPr>
          <a:xfrm>
            <a:off x="4663440" y="3063240"/>
            <a:ext cx="1920240" cy="1600200"/>
          </a:xfrm>
          <a:prstGeom prst="roundRect">
            <a:avLst>
              <a:gd name="adj" fmla="val 4571"/>
            </a:avLst>
          </a:prstGeom>
          <a:solidFill>
            <a:schemeClr val="bg2"/>
          </a:solidFill>
          <a:ln w="12700">
            <a:solidFill>
              <a:schemeClr val="bg2"/>
            </a:solidFill>
            <a:prstDash val="solid"/>
          </a:ln>
        </p:spPr>
      </p:sp>
      <p:sp>
        <p:nvSpPr>
          <p:cNvPr id="34" name="Step number circle 7"/>
          <p:cNvSpPr/>
          <p:nvPr/>
        </p:nvSpPr>
        <p:spPr>
          <a:xfrm>
            <a:off x="4800600" y="3200400"/>
            <a:ext cx="365760" cy="365760"/>
          </a:xfrm>
          <a:prstGeom prst="ellipse">
            <a:avLst/>
          </a:prstGeom>
          <a:solidFill>
            <a:schemeClr val="accent1"/>
          </a:solidFill>
          <a:ln w="12700">
            <a:solidFill>
              <a:schemeClr val="accent1"/>
            </a:solidFill>
            <a:prstDash val="solid"/>
          </a:ln>
        </p:spPr>
      </p:sp>
      <p:sp>
        <p:nvSpPr>
          <p:cNvPr id="35" name="Text 33"/>
          <p:cNvSpPr txBox="1"/>
          <p:nvPr/>
        </p:nvSpPr>
        <p:spPr>
          <a:xfrm>
            <a:off x="4800600" y="32004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6" name="Text 34"/>
          <p:cNvSpPr txBox="1"/>
          <p:nvPr/>
        </p:nvSpPr>
        <p:spPr>
          <a:xfrm>
            <a:off x="4800600" y="3630168"/>
            <a:ext cx="1691640" cy="411480"/>
          </a:xfrm>
          <a:prstGeom prst="rect">
            <a:avLst/>
          </a:prstGeom>
          <a:noFill/>
          <a:ln/>
        </p:spPr>
        <p:txBody>
          <a:bodyPr wrap="square" lIns="0" tIns="0" rIns="0" bIns="0" rtlCol="0" anchor="t"/>
          <a:lstStyle/>
          <a:p>
            <a:pPr indent="0" marL="0">
              <a:buNone/>
            </a:pPr>
            <a:r>
              <a:rPr lang="en-US" sz="1400" b="1" dirty="0">
                <a:solidFill>
                  <a:schemeClr val="accent1"/>
                </a:solidFill>
              </a:rPr>
              <a:t>Major factors</a:t>
            </a:r>
            <a:endParaRPr lang="en-US" sz="1400" dirty="0"/>
          </a:p>
        </p:txBody>
      </p:sp>
      <p:sp>
        <p:nvSpPr>
          <p:cNvPr id="37" name="Text 35"/>
          <p:cNvSpPr txBox="1"/>
          <p:nvPr/>
        </p:nvSpPr>
        <p:spPr>
          <a:xfrm>
            <a:off x="4800600" y="4050792"/>
            <a:ext cx="1691640" cy="566928"/>
          </a:xfrm>
          <a:prstGeom prst="rect">
            <a:avLst/>
          </a:prstGeom>
          <a:noFill/>
          <a:ln/>
        </p:spPr>
        <p:txBody>
          <a:bodyPr wrap="square" lIns="0" tIns="0" rIns="0" bIns="0" rtlCol="0" anchor="t"/>
          <a:lstStyle/>
          <a:p>
            <a:pPr indent="0" marL="0">
              <a:buNone/>
            </a:pPr>
            <a:r>
              <a:rPr lang="en-US" sz="1200" dirty="0">
                <a:solidFill>
                  <a:schemeClr val="tx1"/>
                </a:solidFill>
              </a:rPr>
              <a:t>Loadings show what drives each component</a:t>
            </a:r>
            <a:endParaRPr lang="en-US" sz="1200" dirty="0"/>
          </a:p>
        </p:txBody>
      </p:sp>
      <p:sp>
        <p:nvSpPr>
          <p:cNvPr id="38" name="Step card 8"/>
          <p:cNvSpPr/>
          <p:nvPr/>
        </p:nvSpPr>
        <p:spPr>
          <a:xfrm>
            <a:off x="6766560" y="3063240"/>
            <a:ext cx="1920240" cy="1600200"/>
          </a:xfrm>
          <a:prstGeom prst="roundRect">
            <a:avLst>
              <a:gd name="adj" fmla="val 4571"/>
            </a:avLst>
          </a:prstGeom>
          <a:solidFill>
            <a:schemeClr val="bg2"/>
          </a:solidFill>
          <a:ln w="12700">
            <a:solidFill>
              <a:schemeClr val="bg2"/>
            </a:solidFill>
            <a:prstDash val="solid"/>
          </a:ln>
        </p:spPr>
      </p:sp>
      <p:sp>
        <p:nvSpPr>
          <p:cNvPr id="39" name="Step number circle 8"/>
          <p:cNvSpPr/>
          <p:nvPr/>
        </p:nvSpPr>
        <p:spPr>
          <a:xfrm>
            <a:off x="6903720" y="3200400"/>
            <a:ext cx="365760" cy="365760"/>
          </a:xfrm>
          <a:prstGeom prst="ellipse">
            <a:avLst/>
          </a:prstGeom>
          <a:solidFill>
            <a:schemeClr val="accent1"/>
          </a:solidFill>
          <a:ln w="12700">
            <a:solidFill>
              <a:schemeClr val="accent1"/>
            </a:solidFill>
            <a:prstDash val="solid"/>
          </a:ln>
        </p:spPr>
      </p:sp>
      <p:sp>
        <p:nvSpPr>
          <p:cNvPr id="40" name="Text 38"/>
          <p:cNvSpPr txBox="1"/>
          <p:nvPr/>
        </p:nvSpPr>
        <p:spPr>
          <a:xfrm>
            <a:off x="6903720" y="32004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1" name="Text 39"/>
          <p:cNvSpPr txBox="1"/>
          <p:nvPr/>
        </p:nvSpPr>
        <p:spPr>
          <a:xfrm>
            <a:off x="6903720" y="3630168"/>
            <a:ext cx="1691640" cy="411480"/>
          </a:xfrm>
          <a:prstGeom prst="rect">
            <a:avLst/>
          </a:prstGeom>
          <a:noFill/>
          <a:ln/>
        </p:spPr>
        <p:txBody>
          <a:bodyPr wrap="square" lIns="0" tIns="0" rIns="0" bIns="0" rtlCol="0" anchor="t"/>
          <a:lstStyle/>
          <a:p>
            <a:pPr indent="0" marL="0">
              <a:buNone/>
            </a:pPr>
            <a:r>
              <a:rPr lang="en-US" sz="1400" b="1" dirty="0">
                <a:solidFill>
                  <a:schemeClr val="accent1"/>
                </a:solidFill>
              </a:rPr>
              <a:t>Validation</a:t>
            </a:r>
            <a:endParaRPr lang="en-US" sz="1400" dirty="0"/>
          </a:p>
        </p:txBody>
      </p:sp>
      <p:sp>
        <p:nvSpPr>
          <p:cNvPr id="42" name="Text 40"/>
          <p:cNvSpPr txBox="1"/>
          <p:nvPr/>
        </p:nvSpPr>
        <p:spPr>
          <a:xfrm>
            <a:off x="6903720" y="4050792"/>
            <a:ext cx="1691640" cy="566928"/>
          </a:xfrm>
          <a:prstGeom prst="rect">
            <a:avLst/>
          </a:prstGeom>
          <a:noFill/>
          <a:ln/>
        </p:spPr>
        <p:txBody>
          <a:bodyPr wrap="square" lIns="0" tIns="0" rIns="0" bIns="0" rtlCol="0" anchor="t"/>
          <a:lstStyle/>
          <a:p>
            <a:pPr indent="0" marL="0">
              <a:buNone/>
            </a:pPr>
            <a:r>
              <a:rPr lang="en-US" sz="1200" dirty="0">
                <a:solidFill>
                  <a:schemeClr val="tx1"/>
                </a:solidFill>
              </a:rPr>
              <a:t>k-NN on all features versus 3 components</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Dataset: attributes taken and cleaned</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4572000"/>
                <a:gridCol w="1645920"/>
                <a:gridCol w="2011680"/>
              </a:tblGrid>
              <a:tr h="347472">
                <a:tc>
                  <a:txBody>
                    <a:bodyPr/>
                    <a:lstStyle/>
                    <a:p>
                      <a:pPr indent="0" marL="0">
                        <a:buNone/>
                      </a:pPr>
                      <a:r>
                        <a:rPr lang="en-US" sz="1300" b="1" dirty="0">
                          <a:solidFill>
                            <a:schemeClr val="bg1"/>
                          </a:solidFill>
                        </a:rPr>
                        <a:t>Stage</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Source data</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Stress test (noise added)</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tx2"/>
                    </a:solidFill>
                  </a:tcPr>
                </a:tc>
              </a:tr>
              <a:tr h="347472">
                <a:tc>
                  <a:txBody>
                    <a:bodyPr/>
                    <a:lstStyle/>
                    <a:p>
                      <a:pPr indent="0" marL="0">
                        <a:buNone/>
                      </a:pPr>
                      <a:r>
                        <a:rPr lang="en-US" sz="1300" b="1" dirty="0">
                          <a:solidFill>
                            <a:schemeClr val="tx1"/>
                          </a:solidFill>
                        </a:rPr>
                        <a:t>Total records (rows)</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470</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470</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r>
              <a:tr h="347472">
                <a:tc>
                  <a:txBody>
                    <a:bodyPr/>
                    <a:lstStyle/>
                    <a:p>
                      <a:pPr indent="0" marL="0">
                        <a:buNone/>
                      </a:pPr>
                      <a:r>
                        <a:rPr lang="en-US" sz="1300" b="1" dirty="0">
                          <a:solidFill>
                            <a:schemeClr val="tx1"/>
                          </a:solidFill>
                        </a:rPr>
                        <a:t>Original attributes (7 numeric + crop label)</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8</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8</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r>
              <a:tr h="347472">
                <a:tc>
                  <a:txBody>
                    <a:bodyPr/>
                    <a:lstStyle/>
                    <a:p>
                      <a:pPr indent="0" marL="0">
                        <a:buNone/>
                      </a:pPr>
                      <a:r>
                        <a:rPr lang="en-US" sz="1300" b="1" dirty="0">
                          <a:solidFill>
                            <a:schemeClr val="tx1"/>
                          </a:solidFill>
                        </a:rPr>
                        <a:t>Missing values imputed (median)</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37</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r>
              <a:tr h="347472">
                <a:tc>
                  <a:txBody>
                    <a:bodyPr/>
                    <a:lstStyle/>
                    <a:p>
                      <a:pPr indent="0" marL="0">
                        <a:buNone/>
                      </a:pPr>
                      <a:r>
                        <a:rPr lang="en-US" sz="1300" b="1" dirty="0">
                          <a:solidFill>
                            <a:schemeClr val="tx1"/>
                          </a:solidFill>
                        </a:rPr>
                        <a:t>Duplicate records removed</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r>
              <a:tr h="347472">
                <a:tc>
                  <a:txBody>
                    <a:bodyPr/>
                    <a:lstStyle/>
                    <a:p>
                      <a:pPr indent="0" marL="0">
                        <a:buNone/>
                      </a:pPr>
                      <a:r>
                        <a:rPr lang="en-US" sz="1300" b="1" dirty="0">
                          <a:solidFill>
                            <a:schemeClr val="tx1"/>
                          </a:solidFill>
                        </a:rPr>
                        <a:t>Invalid values corrected (clamped)</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43</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r>
              <a:tr h="347472">
                <a:tc>
                  <a:txBody>
                    <a:bodyPr/>
                    <a:lstStyle/>
                    <a:p>
                      <a:pPr indent="0" marL="0">
                        <a:buNone/>
                      </a:pPr>
                      <a:r>
                        <a:rPr lang="en-US" sz="1300" b="1" dirty="0">
                          <a:solidFill>
                            <a:schemeClr val="tx1"/>
                          </a:solidFill>
                        </a:rPr>
                        <a:t>Outliers flagged (IQR, 1.5 x)</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89</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99</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r>
              <a:tr h="347472">
                <a:tc>
                  <a:txBody>
                    <a:bodyPr/>
                    <a:lstStyle/>
                    <a:p>
                      <a:pPr indent="0" marL="0">
                        <a:buNone/>
                      </a:pPr>
                      <a:r>
                        <a:rPr lang="en-US" sz="1300" b="1" dirty="0">
                          <a:solidFill>
                            <a:schemeClr val="tx1"/>
                          </a:solidFill>
                        </a:rPr>
                        <a:t>Engineered features added</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8</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8</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r>
              <a:tr h="347472">
                <a:tc>
                  <a:txBody>
                    <a:bodyPr/>
                    <a:lstStyle/>
                    <a:p>
                      <a:pPr indent="0" marL="0">
                        <a:buNone/>
                      </a:pPr>
                      <a:r>
                        <a:rPr lang="en-US" sz="1300" b="1" dirty="0">
                          <a:solidFill>
                            <a:schemeClr val="tx1"/>
                          </a:solidFill>
                        </a:rPr>
                        <a:t>Features used in PCA</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7</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7</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457200" y="4389120"/>
            <a:ext cx="7680960" cy="365760"/>
          </a:xfrm>
          <a:prstGeom prst="rect">
            <a:avLst/>
          </a:prstGeom>
          <a:noFill/>
          <a:ln/>
        </p:spPr>
        <p:txBody>
          <a:bodyPr wrap="square" lIns="0" tIns="0" rIns="0" bIns="0" rtlCol="0" anchor="ctr"/>
          <a:lstStyle/>
          <a:p>
            <a:pPr indent="0" marL="0">
              <a:buNone/>
            </a:pPr>
            <a:r>
              <a:rPr lang="en-US" sz="1100" dirty="0">
                <a:solidFill>
                  <a:schemeClr val="tx2"/>
                </a:solidFill>
              </a:rPr>
              <a:t>The stress test injects synthetic missing and invalid values to show each cleaning step working. Outliers are flagged, not removed.</a:t>
            </a:r>
            <a:endParaRPr lang="en-US" sz="11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Modules and why they exist</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920240"/>
                <a:gridCol w="3291840"/>
                <a:gridCol w="3017520"/>
              </a:tblGrid>
              <a:tr h="420624">
                <a:tc>
                  <a:txBody>
                    <a:bodyPr/>
                    <a:lstStyle/>
                    <a:p>
                      <a:pPr indent="0" marL="0">
                        <a:buNone/>
                      </a:pPr>
                      <a:r>
                        <a:rPr lang="en-US" sz="1200" b="1" dirty="0">
                          <a:solidFill>
                            <a:schemeClr val="bg1"/>
                          </a:solidFill>
                        </a:rPr>
                        <a:t>Module</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Why needed</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tx2"/>
                    </a:solidFill>
                  </a:tcPr>
                </a:tc>
              </a:tr>
              <a:tr h="420624">
                <a:tc>
                  <a:txBody>
                    <a:bodyPr/>
                    <a:lstStyle/>
                    <a:p>
                      <a:pPr indent="0" marL="0">
                        <a:buNone/>
                      </a:pPr>
                      <a:r>
                        <a:rPr lang="en-US" sz="1200" b="1" dirty="0">
                          <a:solidFill>
                            <a:schemeClr val="tx1"/>
                          </a:solidFill>
                        </a:rPr>
                        <a:t>Data cleaning</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Impute, de-duplicate, fix invalid values</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Bad readings distort every later step</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1"/>
                          </a:solidFill>
                        </a:rPr>
                        <a:t>Feature engineering</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Moisture index, NPK ratios, fertility index</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Raw values miss nutrient relationships</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Standardisation</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Z-score scaling of every feature</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PCA is sensitive to differing units</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1"/>
                          </a:solidFill>
                        </a:rPr>
                        <a:t>PCA engine</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Covariance matrix and eigenvectors</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Compresses correlated features</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Factor analysis</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Loadings and variance per component</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Explains what drives soil variation</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1"/>
                          </a:solidFill>
                        </a:rPr>
                        <a:t>ML check</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k-NN on original vs PCA features</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Tests what information PCA keeps</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1"/>
                          </a:solidFill>
                        </a:rPr>
                        <a:t>Yield predictor</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Crop suitability and expected yield</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Turns analysis into advice</a:t>
                      </a:r>
                      <a:endParaRPr lang="en-US" sz="12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Why feature engineering and PCA?</a:t>
            </a:r>
            <a:endParaRPr lang="en-US" sz="3000" dirty="0"/>
          </a:p>
        </p:txBody>
      </p:sp>
      <p:sp>
        <p:nvSpPr>
          <p:cNvPr id="3" name="Feature engineering card"/>
          <p:cNvSpPr/>
          <p:nvPr/>
        </p:nvSpPr>
        <p:spPr>
          <a:xfrm>
            <a:off x="457200" y="1280160"/>
            <a:ext cx="4023360" cy="2651760"/>
          </a:xfrm>
          <a:prstGeom prst="roundRect">
            <a:avLst>
              <a:gd name="adj" fmla="val 2759"/>
            </a:avLst>
          </a:prstGeom>
          <a:solidFill>
            <a:schemeClr val="bg2"/>
          </a:solidFill>
          <a:ln w="12700">
            <a:solidFill>
              <a:schemeClr val="bg2"/>
            </a:solidFill>
            <a:prstDash val="solid"/>
          </a:ln>
        </p:spPr>
      </p:sp>
      <p:sp>
        <p:nvSpPr>
          <p:cNvPr id="4" name="Icon circle Feature engineering"/>
          <p:cNvSpPr/>
          <p:nvPr/>
        </p:nvSpPr>
        <p:spPr>
          <a:xfrm>
            <a:off x="685800" y="1463040"/>
            <a:ext cx="457200" cy="457200"/>
          </a:xfrm>
          <a:prstGeom prst="ellipse">
            <a:avLst/>
          </a:prstGeom>
          <a:solidFill>
            <a:schemeClr val="accent5"/>
          </a:solidFill>
          <a:ln w="12700">
            <a:solidFill>
              <a:schemeClr val="accent5"/>
            </a:solidFill>
            <a:prstDash val="solid"/>
          </a:ln>
        </p:spPr>
      </p:sp>
      <p:pic>
        <p:nvPicPr>
          <p:cNvPr id="5" name="Image 0" descr="Feature engineering">    </p:cNvPr>
          <p:cNvPicPr>
            <a:picLocks noChangeAspect="1"/>
          </p:cNvPicPr>
          <p:nvPr/>
        </p:nvPicPr>
        <p:blipFill>
          <a:blip r:embed="rId1"/>
          <a:stretch>
            <a:fillRect/>
          </a:stretch>
        </p:blipFill>
        <p:spPr>
          <a:xfrm>
            <a:off x="804672" y="1581912"/>
            <a:ext cx="219456" cy="219456"/>
          </a:xfrm>
          <a:prstGeom prst="rect">
            <a:avLst/>
          </a:prstGeom>
        </p:spPr>
      </p:pic>
      <p:sp>
        <p:nvSpPr>
          <p:cNvPr id="6" name="Text 3"/>
          <p:cNvSpPr txBox="1"/>
          <p:nvPr/>
        </p:nvSpPr>
        <p:spPr>
          <a:xfrm>
            <a:off x="1280160" y="1463040"/>
            <a:ext cx="3017520" cy="45720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Feature engineering</a:t>
            </a:r>
            <a:endParaRPr lang="en-US" sz="1800" dirty="0"/>
          </a:p>
        </p:txBody>
      </p:sp>
      <p:sp>
        <p:nvSpPr>
          <p:cNvPr id="7" name="Text 4"/>
          <p:cNvSpPr txBox="1"/>
          <p:nvPr/>
        </p:nvSpPr>
        <p:spPr>
          <a:xfrm>
            <a:off x="685800" y="2103120"/>
            <a:ext cx="356616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Combines raw readings into indicators such as the moisture index and N:P ratio</a:t>
            </a:r>
            <a:endParaRPr lang="en-US" sz="1400" dirty="0"/>
          </a:p>
          <a:p>
            <a:pPr marL="342900" indent="-342900">
              <a:spcAft>
                <a:spcPts val="600"/>
              </a:spcAft>
              <a:buSzPct val="100000"/>
              <a:buChar char="•"/>
            </a:pPr>
            <a:r>
              <a:rPr lang="en-US" sz="1400" dirty="0">
                <a:solidFill>
                  <a:schemeClr val="tx1"/>
                </a:solidFill>
              </a:rPr>
              <a:t>Z-score scaling gives every feature equal weight</a:t>
            </a:r>
            <a:endParaRPr lang="en-US" sz="1400" dirty="0"/>
          </a:p>
          <a:p>
            <a:pPr marL="342900" indent="-342900">
              <a:spcAft>
                <a:spcPts val="600"/>
              </a:spcAft>
              <a:buSzPct val="100000"/>
              <a:buChar char="•"/>
            </a:pPr>
            <a:r>
              <a:rPr lang="en-US" sz="1400" dirty="0">
                <a:solidFill>
                  <a:schemeClr val="tx1"/>
                </a:solidFill>
              </a:rPr>
              <a:t>Flags unusual samples and corrects impossible values</a:t>
            </a:r>
            <a:endParaRPr lang="en-US" sz="1400" dirty="0"/>
          </a:p>
        </p:txBody>
      </p:sp>
      <p:sp>
        <p:nvSpPr>
          <p:cNvPr id="8" name="Principal Component Analysis card"/>
          <p:cNvSpPr/>
          <p:nvPr/>
        </p:nvSpPr>
        <p:spPr>
          <a:xfrm>
            <a:off x="4663440" y="1280160"/>
            <a:ext cx="4023360" cy="2651760"/>
          </a:xfrm>
          <a:prstGeom prst="roundRect">
            <a:avLst>
              <a:gd name="adj" fmla="val 2759"/>
            </a:avLst>
          </a:prstGeom>
          <a:solidFill>
            <a:schemeClr val="bg2"/>
          </a:solidFill>
          <a:ln w="12700">
            <a:solidFill>
              <a:schemeClr val="bg2"/>
            </a:solidFill>
            <a:prstDash val="solid"/>
          </a:ln>
        </p:spPr>
      </p:sp>
      <p:sp>
        <p:nvSpPr>
          <p:cNvPr id="9" name="Icon circle Principal Component Analysis"/>
          <p:cNvSpPr/>
          <p:nvPr/>
        </p:nvSpPr>
        <p:spPr>
          <a:xfrm>
            <a:off x="4892040" y="1463040"/>
            <a:ext cx="457200" cy="457200"/>
          </a:xfrm>
          <a:prstGeom prst="ellipse">
            <a:avLst/>
          </a:prstGeom>
          <a:solidFill>
            <a:schemeClr val="accent5"/>
          </a:solidFill>
          <a:ln w="12700">
            <a:solidFill>
              <a:schemeClr val="accent5"/>
            </a:solidFill>
            <a:prstDash val="solid"/>
          </a:ln>
        </p:spPr>
      </p:sp>
      <p:pic>
        <p:nvPicPr>
          <p:cNvPr id="10" name="Image 1" descr="Principal Component Analysis">    </p:cNvPr>
          <p:cNvPicPr>
            <a:picLocks noChangeAspect="1"/>
          </p:cNvPicPr>
          <p:nvPr/>
        </p:nvPicPr>
        <p:blipFill>
          <a:blip r:embed="rId2"/>
          <a:stretch>
            <a:fillRect/>
          </a:stretch>
        </p:blipFill>
        <p:spPr>
          <a:xfrm>
            <a:off x="5010912" y="1581912"/>
            <a:ext cx="219456" cy="219456"/>
          </a:xfrm>
          <a:prstGeom prst="rect">
            <a:avLst/>
          </a:prstGeom>
        </p:spPr>
      </p:pic>
      <p:sp>
        <p:nvSpPr>
          <p:cNvPr id="11" name="Text 7"/>
          <p:cNvSpPr txBox="1"/>
          <p:nvPr/>
        </p:nvSpPr>
        <p:spPr>
          <a:xfrm>
            <a:off x="5486400" y="1463040"/>
            <a:ext cx="3017520" cy="45720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Principal Component Analysis</a:t>
            </a:r>
            <a:endParaRPr lang="en-US" sz="1800" dirty="0"/>
          </a:p>
        </p:txBody>
      </p:sp>
      <p:sp>
        <p:nvSpPr>
          <p:cNvPr id="12" name="Text 8"/>
          <p:cNvSpPr txBox="1"/>
          <p:nvPr/>
        </p:nvSpPr>
        <p:spPr>
          <a:xfrm>
            <a:off x="4892040" y="2103120"/>
            <a:ext cx="356616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Turns correlated features into uncorrelated components</a:t>
            </a:r>
            <a:endParaRPr lang="en-US" sz="1400" dirty="0"/>
          </a:p>
          <a:p>
            <a:pPr marL="342900" indent="-342900">
              <a:spcAft>
                <a:spcPts val="600"/>
              </a:spcAft>
              <a:buSzPct val="100000"/>
              <a:buChar char="•"/>
            </a:pPr>
            <a:r>
              <a:rPr lang="en-US" sz="1400" dirty="0">
                <a:solidFill>
                  <a:schemeClr val="tx1"/>
                </a:solidFill>
              </a:rPr>
              <a:t>Packs the largest variance into the first few components</a:t>
            </a:r>
            <a:endParaRPr lang="en-US" sz="1400" dirty="0"/>
          </a:p>
          <a:p>
            <a:pPr marL="342900" indent="-342900">
              <a:spcAft>
                <a:spcPts val="600"/>
              </a:spcAft>
              <a:buSzPct val="100000"/>
              <a:buChar char="•"/>
            </a:pPr>
            <a:r>
              <a:rPr lang="en-US" sz="1400" dirty="0">
                <a:solidFill>
                  <a:schemeClr val="tx1"/>
                </a:solidFill>
              </a:rPr>
              <a:t>Makes 7 features viewable in 2D or 3D plots</a:t>
            </a:r>
            <a:endParaRPr lang="en-US" sz="1400" dirty="0"/>
          </a:p>
        </p:txBody>
      </p:sp>
      <p:sp>
        <p:nvSpPr>
          <p:cNvPr id="13" name="Text 9"/>
          <p:cNvSpPr txBox="1"/>
          <p:nvPr/>
        </p:nvSpPr>
        <p:spPr>
          <a:xfrm>
            <a:off x="457200" y="4114800"/>
            <a:ext cx="8138160" cy="548640"/>
          </a:xfrm>
          <a:prstGeom prst="rect">
            <a:avLst/>
          </a:prstGeom>
          <a:noFill/>
          <a:ln/>
        </p:spPr>
        <p:txBody>
          <a:bodyPr wrap="square" lIns="0" tIns="0" rIns="0" bIns="0" rtlCol="0" anchor="ctr"/>
          <a:lstStyle/>
          <a:p>
            <a:pPr indent="0" marL="0">
              <a:buNone/>
            </a:pPr>
            <a:r>
              <a:rPr lang="en-US" sz="1400" b="1" dirty="0">
                <a:solidFill>
                  <a:schemeClr val="accent1"/>
                </a:solidFill>
              </a:rPr>
              <a:t>Together: clean, well-designed features give PCA a reliable input, so a few components capture the main patterns in soil nutrient variation.</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PCA results: variance explained</a:t>
            </a:r>
            <a:endParaRPr lang="en-US" sz="3000" dirty="0"/>
          </a:p>
        </p:txBody>
      </p:sp>
      <p:graphicFrame>
        <p:nvGraphicFramePr>
          <p:cNvPr id="3" name="Chart 0" descr=""/>
          <p:cNvGraphicFramePr/>
          <p:nvPr/>
        </p:nvGraphicFramePr>
        <p:xfrm>
          <a:off x="457200" y="1234440"/>
          <a:ext cx="5212080" cy="33832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035040" y="1371600"/>
            <a:ext cx="2651760" cy="73152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72.8%</a:t>
            </a:r>
            <a:endParaRPr lang="en-US" sz="4400" dirty="0"/>
          </a:p>
        </p:txBody>
      </p:sp>
      <p:sp>
        <p:nvSpPr>
          <p:cNvPr id="5" name="Text 2"/>
          <p:cNvSpPr txBox="1"/>
          <p:nvPr/>
        </p:nvSpPr>
        <p:spPr>
          <a:xfrm>
            <a:off x="6035040" y="2148840"/>
            <a:ext cx="2651760" cy="731520"/>
          </a:xfrm>
          <a:prstGeom prst="rect">
            <a:avLst/>
          </a:prstGeom>
          <a:noFill/>
          <a:ln/>
        </p:spPr>
        <p:txBody>
          <a:bodyPr wrap="square" lIns="0" tIns="0" rIns="0" bIns="0" rtlCol="0" anchor="t"/>
          <a:lstStyle/>
          <a:p>
            <a:pPr indent="0" marL="0">
              <a:buNone/>
            </a:pPr>
            <a:r>
              <a:rPr lang="en-US" sz="1400" dirty="0">
                <a:solidFill>
                  <a:schemeClr val="tx1"/>
                </a:solidFill>
              </a:rPr>
              <a:t>of variance kept by 3 components (orange), cutting 7 features to 3</a:t>
            </a:r>
            <a:endParaRPr lang="en-US" sz="1400" dirty="0"/>
          </a:p>
        </p:txBody>
      </p:sp>
      <p:sp>
        <p:nvSpPr>
          <p:cNvPr id="6" name="Text 3"/>
          <p:cNvSpPr txBox="1"/>
          <p:nvPr/>
        </p:nvSpPr>
        <p:spPr>
          <a:xfrm>
            <a:off x="6035040" y="3017520"/>
            <a:ext cx="2651760" cy="73152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96.9%</a:t>
            </a:r>
            <a:endParaRPr lang="en-US" sz="4400" dirty="0"/>
          </a:p>
        </p:txBody>
      </p:sp>
      <p:sp>
        <p:nvSpPr>
          <p:cNvPr id="7" name="Text 4"/>
          <p:cNvSpPr txBox="1"/>
          <p:nvPr/>
        </p:nvSpPr>
        <p:spPr>
          <a:xfrm>
            <a:off x="6035040" y="3794760"/>
            <a:ext cx="2651760" cy="731520"/>
          </a:xfrm>
          <a:prstGeom prst="rect">
            <a:avLst/>
          </a:prstGeom>
          <a:noFill/>
          <a:ln/>
        </p:spPr>
        <p:txBody>
          <a:bodyPr wrap="square" lIns="0" tIns="0" rIns="0" bIns="0" rtlCol="0" anchor="t"/>
          <a:lstStyle/>
          <a:p>
            <a:pPr indent="0" marL="0">
              <a:buNone/>
            </a:pPr>
            <a:r>
              <a:rPr lang="en-US" sz="1400" dirty="0">
                <a:solidFill>
                  <a:schemeClr val="tx1"/>
                </a:solidFill>
              </a:rPr>
              <a:t>of variance kept by 5 components</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Major factors behind soil variation</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280160"/>
                <a:gridCol w="1097280"/>
                <a:gridCol w="3291840"/>
                <a:gridCol w="2560320"/>
              </a:tblGrid>
              <a:tr h="502920">
                <a:tc>
                  <a:txBody>
                    <a:bodyPr/>
                    <a:lstStyle/>
                    <a:p>
                      <a:pPr indent="0" marL="0">
                        <a:buNone/>
                      </a:pPr>
                      <a:r>
                        <a:rPr lang="en-US" sz="1300" b="1" dirty="0">
                          <a:solidFill>
                            <a:schemeClr val="bg1"/>
                          </a:solidFill>
                        </a:rPr>
                        <a:t>Component</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Variance</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Main drivers</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Soil factor</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tx2"/>
                    </a:solidFill>
                  </a:tcPr>
                </a:tc>
              </a:tr>
              <a:tr h="502920">
                <a:tc>
                  <a:txBody>
                    <a:bodyPr/>
                    <a:lstStyle/>
                    <a:p>
                      <a:pPr indent="0" marL="0">
                        <a:buNone/>
                      </a:pPr>
                      <a:r>
                        <a:rPr lang="en-US" sz="1300" b="1" dirty="0">
                          <a:solidFill>
                            <a:schemeClr val="tx1"/>
                          </a:solidFill>
                        </a:rPr>
                        <a:t>PC1</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31.8%</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Moisture index, rainfall, humidity</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Water availability</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PC2</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26.5%</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Potassium, phosphorus</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K-P nutrient reserve</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PC3</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14.5%</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Humidity, nitrogen (against rainfall)</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Humidity-nitrogen balance</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PC4</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13.3%</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Soil pH</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Soil acidity</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PC5</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10.8%</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Nitrogen, phosphorus (against humidity)</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N-P supply</a:t>
                      </a:r>
                      <a:endParaRPr lang="en-US" sz="1300" dirty="0"/>
                    </a:p>
                  </a:txBody>
                  <a:tcPr marL="91440" marR="91440" marT="27432" marB="27432" anchor="ctr">
                    <a:lnL w="6350" cap="flat" cmpd="sng" algn="ctr">
                      <a:solidFill>
                        <a:srgbClr val="E3D5C8"/>
                      </a:solidFill>
                      <a:prstDash val="solid"/>
                      <a:round/>
                      <a:headEnd type="none" w="med" len="med"/>
                      <a:tailEnd type="none" w="med" len="med"/>
                    </a:lnL>
                    <a:lnR w="6350" cap="flat" cmpd="sng" algn="ctr">
                      <a:solidFill>
                        <a:srgbClr val="E3D5C8"/>
                      </a:solidFill>
                      <a:prstDash val="solid"/>
                      <a:round/>
                      <a:headEnd type="none" w="med" len="med"/>
                      <a:tailEnd type="none" w="med" len="med"/>
                    </a:lnR>
                    <a:lnT w="6350" cap="flat" cmpd="sng" algn="ctr">
                      <a:solidFill>
                        <a:srgbClr val="E3D5C8"/>
                      </a:solidFill>
                      <a:prstDash val="solid"/>
                      <a:round/>
                      <a:headEnd type="none" w="med" len="med"/>
                      <a:tailEnd type="none" w="med" len="med"/>
                    </a:lnT>
                    <a:lnB w="6350" cap="flat" cmpd="sng" algn="ctr">
                      <a:solidFill>
                        <a:srgbClr val="E3D5C8"/>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457200" y="4343400"/>
            <a:ext cx="7680960" cy="320040"/>
          </a:xfrm>
          <a:prstGeom prst="rect">
            <a:avLst/>
          </a:prstGeom>
          <a:noFill/>
          <a:ln/>
        </p:spPr>
        <p:txBody>
          <a:bodyPr wrap="square" lIns="0" tIns="0" rIns="0" bIns="0" rtlCol="0" anchor="ctr"/>
          <a:lstStyle/>
          <a:p>
            <a:pPr indent="0" marL="0">
              <a:buNone/>
            </a:pPr>
            <a:r>
              <a:rPr lang="en-US" sz="1300" b="1" dirty="0">
                <a:solidFill>
                  <a:schemeClr val="accent1"/>
                </a:solidFill>
              </a:rPr>
              <a:t>Together, PC1 to PC5 explain 96.9% of the variance in the standardised soil data.</a:t>
            </a:r>
            <a:endParaRPr lang="en-US" sz="13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Evaluation and validation</a:t>
            </a:r>
            <a:endParaRPr lang="en-US" sz="3000" dirty="0"/>
          </a:p>
        </p:txBody>
      </p:sp>
      <p:graphicFrame>
        <p:nvGraphicFramePr>
          <p:cNvPr id="3" name="Chart 0" descr=""/>
          <p:cNvGraphicFramePr/>
          <p:nvPr/>
        </p:nvGraphicFramePr>
        <p:xfrm>
          <a:off x="457200" y="1234440"/>
          <a:ext cx="3931920" cy="33832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754880" y="1371600"/>
            <a:ext cx="3931920" cy="31089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k-NN (k = 5) predicts the crop from soil features across 22 classes</a:t>
            </a:r>
            <a:endParaRPr lang="en-US" sz="1400" dirty="0"/>
          </a:p>
          <a:p>
            <a:pPr marL="342900" indent="-342900">
              <a:spcAft>
                <a:spcPts val="1000"/>
              </a:spcAft>
              <a:buSzPct val="100000"/>
              <a:buChar char="•"/>
            </a:pPr>
            <a:r>
              <a:rPr lang="en-US" sz="1400" dirty="0">
                <a:solidFill>
                  <a:schemeClr val="tx1"/>
                </a:solidFill>
              </a:rPr>
              <a:t>Fixed 80/20 split: 376 training and 94 test samples</a:t>
            </a:r>
            <a:endParaRPr lang="en-US" sz="1400" dirty="0"/>
          </a:p>
          <a:p>
            <a:pPr marL="342900" indent="-342900">
              <a:spcAft>
                <a:spcPts val="1000"/>
              </a:spcAft>
              <a:buSzPct val="100000"/>
              <a:buChar char="•"/>
            </a:pPr>
            <a:r>
              <a:rPr lang="en-US" sz="1400" dirty="0">
                <a:solidFill>
                  <a:schemeClr val="tx1"/>
                </a:solidFill>
              </a:rPr>
              <a:t>3 components keep 72.8% of variance and about 86% of the full-feature accuracy</a:t>
            </a:r>
            <a:endParaRPr lang="en-US" sz="1400" dirty="0"/>
          </a:p>
          <a:p>
            <a:pPr marL="342900" indent="-342900">
              <a:spcAft>
                <a:spcPts val="1000"/>
              </a:spcAft>
              <a:buSzPct val="100000"/>
              <a:buChar char="•"/>
            </a:pPr>
            <a:r>
              <a:rPr lang="en-US" sz="1400" dirty="0">
                <a:solidFill>
                  <a:schemeClr val="tx1"/>
                </a:solidFill>
              </a:rPr>
              <a:t>The stress test shows the same pattern (87.2% vs 75.5%)</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indent="0" marL="0">
              <a:buNone/>
            </a:pPr>
            <a:r>
              <a:rPr lang="en-US" sz="3000" b="1" dirty="0">
                <a:solidFill>
                  <a:schemeClr val="tx1"/>
                </a:solidFill>
              </a:rPr>
              <a:t>Conclusion and future work</a:t>
            </a:r>
            <a:endParaRPr lang="en-US" sz="3000" dirty="0"/>
          </a:p>
        </p:txBody>
      </p:sp>
      <p:sp>
        <p:nvSpPr>
          <p:cNvPr id="3" name="Conclusion card 1"/>
          <p:cNvSpPr/>
          <p:nvPr/>
        </p:nvSpPr>
        <p:spPr>
          <a:xfrm>
            <a:off x="457200" y="1371600"/>
            <a:ext cx="8229600" cy="914400"/>
          </a:xfrm>
          <a:prstGeom prst="roundRect">
            <a:avLst>
              <a:gd name="adj" fmla="val 8000"/>
            </a:avLst>
          </a:prstGeom>
          <a:solidFill>
            <a:schemeClr val="bg2"/>
          </a:solidFill>
          <a:ln w="12700">
            <a:solidFill>
              <a:schemeClr val="bg2"/>
            </a:solidFill>
            <a:prstDash val="solid"/>
          </a:ln>
        </p:spPr>
      </p:sp>
      <p:sp>
        <p:nvSpPr>
          <p:cNvPr id="4" name="Icon circle 1"/>
          <p:cNvSpPr/>
          <p:nvPr/>
        </p:nvSpPr>
        <p:spPr>
          <a:xfrm>
            <a:off x="685800" y="1600200"/>
            <a:ext cx="457200" cy="457200"/>
          </a:xfrm>
          <a:prstGeom prst="ellipse">
            <a:avLst/>
          </a:prstGeom>
          <a:solidFill>
            <a:schemeClr val="accent5"/>
          </a:solidFill>
          <a:ln w="12700">
            <a:solidFill>
              <a:schemeClr val="accent5"/>
            </a:solidFill>
            <a:prstDash val="solid"/>
          </a:ln>
        </p:spPr>
      </p:sp>
      <p:pic>
        <p:nvPicPr>
          <p:cNvPr id="5" name="Image 0" descr="Conclusion point 1">    </p:cNvPr>
          <p:cNvPicPr>
            <a:picLocks noChangeAspect="1"/>
          </p:cNvPicPr>
          <p:nvPr/>
        </p:nvPicPr>
        <p:blipFill>
          <a:blip r:embed="rId1"/>
          <a:stretch>
            <a:fillRect/>
          </a:stretch>
        </p:blipFill>
        <p:spPr>
          <a:xfrm>
            <a:off x="804672" y="1719072"/>
            <a:ext cx="219456" cy="219456"/>
          </a:xfrm>
          <a:prstGeom prst="rect">
            <a:avLst/>
          </a:prstGeom>
        </p:spPr>
      </p:pic>
      <p:sp>
        <p:nvSpPr>
          <p:cNvPr id="6" name="Text 3"/>
          <p:cNvSpPr txBox="1"/>
          <p:nvPr/>
        </p:nvSpPr>
        <p:spPr>
          <a:xfrm>
            <a:off x="1371600" y="1463040"/>
            <a:ext cx="7132320" cy="731520"/>
          </a:xfrm>
          <a:prstGeom prst="rect">
            <a:avLst/>
          </a:prstGeom>
          <a:noFill/>
          <a:ln/>
        </p:spPr>
        <p:txBody>
          <a:bodyPr wrap="square" lIns="0" tIns="0" rIns="0" bIns="0" rtlCol="0" anchor="ctr"/>
          <a:lstStyle/>
          <a:p>
            <a:pPr indent="0" marL="0">
              <a:buNone/>
            </a:pPr>
            <a:r>
              <a:rPr lang="en-US" sz="1500" dirty="0">
                <a:solidFill>
                  <a:schemeClr val="tx1"/>
                </a:solidFill>
              </a:rPr>
              <a:t>Cleaning, feature engineering and PCA turn 7 correlated soil features into 3 components that keep 72.8% of the variation</a:t>
            </a:r>
            <a:endParaRPr lang="en-US" sz="1500" dirty="0"/>
          </a:p>
        </p:txBody>
      </p:sp>
      <p:sp>
        <p:nvSpPr>
          <p:cNvPr id="7" name="Conclusion card 2"/>
          <p:cNvSpPr/>
          <p:nvPr/>
        </p:nvSpPr>
        <p:spPr>
          <a:xfrm>
            <a:off x="457200" y="2468880"/>
            <a:ext cx="8229600" cy="914400"/>
          </a:xfrm>
          <a:prstGeom prst="roundRect">
            <a:avLst>
              <a:gd name="adj" fmla="val 8000"/>
            </a:avLst>
          </a:prstGeom>
          <a:solidFill>
            <a:schemeClr val="bg2"/>
          </a:solidFill>
          <a:ln w="12700">
            <a:solidFill>
              <a:schemeClr val="bg2"/>
            </a:solidFill>
            <a:prstDash val="solid"/>
          </a:ln>
        </p:spPr>
      </p:sp>
      <p:sp>
        <p:nvSpPr>
          <p:cNvPr id="8" name="Icon circle 2"/>
          <p:cNvSpPr/>
          <p:nvPr/>
        </p:nvSpPr>
        <p:spPr>
          <a:xfrm>
            <a:off x="685800" y="2697480"/>
            <a:ext cx="457200" cy="457200"/>
          </a:xfrm>
          <a:prstGeom prst="ellipse">
            <a:avLst/>
          </a:prstGeom>
          <a:solidFill>
            <a:schemeClr val="accent5"/>
          </a:solidFill>
          <a:ln w="12700">
            <a:solidFill>
              <a:schemeClr val="accent5"/>
            </a:solidFill>
            <a:prstDash val="solid"/>
          </a:ln>
        </p:spPr>
      </p:sp>
      <p:pic>
        <p:nvPicPr>
          <p:cNvPr id="9" name="Image 1" descr="Conclusion point 2">    </p:cNvPr>
          <p:cNvPicPr>
            <a:picLocks noChangeAspect="1"/>
          </p:cNvPicPr>
          <p:nvPr/>
        </p:nvPicPr>
        <p:blipFill>
          <a:blip r:embed="rId2"/>
          <a:stretch>
            <a:fillRect/>
          </a:stretch>
        </p:blipFill>
        <p:spPr>
          <a:xfrm>
            <a:off x="804672" y="2816352"/>
            <a:ext cx="219456" cy="219456"/>
          </a:xfrm>
          <a:prstGeom prst="rect">
            <a:avLst/>
          </a:prstGeom>
        </p:spPr>
      </p:pic>
      <p:sp>
        <p:nvSpPr>
          <p:cNvPr id="10" name="Text 6"/>
          <p:cNvSpPr txBox="1"/>
          <p:nvPr/>
        </p:nvSpPr>
        <p:spPr>
          <a:xfrm>
            <a:off x="1371600" y="2560320"/>
            <a:ext cx="7132320" cy="731520"/>
          </a:xfrm>
          <a:prstGeom prst="rect">
            <a:avLst/>
          </a:prstGeom>
          <a:noFill/>
          <a:ln/>
        </p:spPr>
        <p:txBody>
          <a:bodyPr wrap="square" lIns="0" tIns="0" rIns="0" bIns="0" rtlCol="0" anchor="ctr"/>
          <a:lstStyle/>
          <a:p>
            <a:pPr indent="0" marL="0">
              <a:buNone/>
            </a:pPr>
            <a:r>
              <a:rPr lang="en-US" sz="1500" dirty="0">
                <a:solidFill>
                  <a:schemeClr val="tx1"/>
                </a:solidFill>
              </a:rPr>
              <a:t>Water availability, the potassium-phosphorus reserve and pH emerge as the main factors behind soil nutrient variation</a:t>
            </a:r>
            <a:endParaRPr lang="en-US" sz="1500" dirty="0"/>
          </a:p>
        </p:txBody>
      </p:sp>
      <p:sp>
        <p:nvSpPr>
          <p:cNvPr id="11" name="Conclusion card 3"/>
          <p:cNvSpPr/>
          <p:nvPr/>
        </p:nvSpPr>
        <p:spPr>
          <a:xfrm>
            <a:off x="457200" y="3566160"/>
            <a:ext cx="8229600" cy="914400"/>
          </a:xfrm>
          <a:prstGeom prst="roundRect">
            <a:avLst>
              <a:gd name="adj" fmla="val 8000"/>
            </a:avLst>
          </a:prstGeom>
          <a:solidFill>
            <a:schemeClr val="bg2"/>
          </a:solidFill>
          <a:ln w="12700">
            <a:solidFill>
              <a:schemeClr val="bg2"/>
            </a:solidFill>
            <a:prstDash val="solid"/>
          </a:ln>
        </p:spPr>
      </p:sp>
      <p:sp>
        <p:nvSpPr>
          <p:cNvPr id="12" name="Icon circle 3"/>
          <p:cNvSpPr/>
          <p:nvPr/>
        </p:nvSpPr>
        <p:spPr>
          <a:xfrm>
            <a:off x="685800" y="3794760"/>
            <a:ext cx="457200" cy="457200"/>
          </a:xfrm>
          <a:prstGeom prst="ellipse">
            <a:avLst/>
          </a:prstGeom>
          <a:solidFill>
            <a:schemeClr val="accent5"/>
          </a:solidFill>
          <a:ln w="12700">
            <a:solidFill>
              <a:schemeClr val="accent5"/>
            </a:solidFill>
            <a:prstDash val="solid"/>
          </a:ln>
        </p:spPr>
      </p:sp>
      <p:pic>
        <p:nvPicPr>
          <p:cNvPr id="13" name="Image 2" descr="Conclusion point 3">    </p:cNvPr>
          <p:cNvPicPr>
            <a:picLocks noChangeAspect="1"/>
          </p:cNvPicPr>
          <p:nvPr/>
        </p:nvPicPr>
        <p:blipFill>
          <a:blip r:embed="rId3"/>
          <a:stretch>
            <a:fillRect/>
          </a:stretch>
        </p:blipFill>
        <p:spPr>
          <a:xfrm>
            <a:off x="804672" y="3913632"/>
            <a:ext cx="219456" cy="219456"/>
          </a:xfrm>
          <a:prstGeom prst="rect">
            <a:avLst/>
          </a:prstGeom>
        </p:spPr>
      </p:pic>
      <p:sp>
        <p:nvSpPr>
          <p:cNvPr id="14" name="Text 9"/>
          <p:cNvSpPr txBox="1"/>
          <p:nvPr/>
        </p:nvSpPr>
        <p:spPr>
          <a:xfrm>
            <a:off x="1371600" y="3657600"/>
            <a:ext cx="7132320" cy="731520"/>
          </a:xfrm>
          <a:prstGeom prst="rect">
            <a:avLst/>
          </a:prstGeom>
          <a:noFill/>
          <a:ln/>
        </p:spPr>
        <p:txBody>
          <a:bodyPr wrap="square" lIns="0" tIns="0" rIns="0" bIns="0" rtlCol="0" anchor="ctr"/>
          <a:lstStyle/>
          <a:p>
            <a:pPr indent="0" marL="0">
              <a:buNone/>
            </a:pPr>
            <a:r>
              <a:rPr lang="en-US" sz="1500" dirty="0">
                <a:solidFill>
                  <a:schemeClr val="tx1"/>
                </a:solidFill>
              </a:rPr>
              <a:t>Future work: soil classification models, more soil properties and real field data, and decision support for fertiliser planning</a:t>
            </a:r>
            <a:endParaRPr lang="en-US" sz="15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oil profile illustration" descr="Soil layers with a sprout and N, P, K nutrient markers">    </p:cNvPr>
          <p:cNvPicPr>
            <a:picLocks noChangeAspect="1"/>
          </p:cNvPicPr>
          <p:nvPr/>
        </p:nvPicPr>
        <p:blipFill>
          <a:blip r:embed="rId1"/>
          <a:stretch>
            <a:fillRect/>
          </a:stretch>
        </p:blipFill>
        <p:spPr>
          <a:xfrm>
            <a:off x="5486400" y="0"/>
            <a:ext cx="3657600" cy="5143500"/>
          </a:xfrm>
          <a:prstGeom prst="rect">
            <a:avLst/>
          </a:prstGeom>
        </p:spPr>
      </p:pic>
      <p:sp>
        <p:nvSpPr>
          <p:cNvPr id="3" name="Text 0"/>
          <p:cNvSpPr txBox="1"/>
          <p:nvPr/>
        </p:nvSpPr>
        <p:spPr>
          <a:xfrm>
            <a:off x="457200" y="1554480"/>
            <a:ext cx="4754880" cy="9144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4" name="Text 1"/>
          <p:cNvSpPr txBox="1"/>
          <p:nvPr/>
        </p:nvSpPr>
        <p:spPr>
          <a:xfrm>
            <a:off x="457200" y="2560320"/>
            <a:ext cx="4754880" cy="457200"/>
          </a:xfrm>
          <a:prstGeom prst="rect">
            <a:avLst/>
          </a:prstGeom>
          <a:noFill/>
          <a:ln/>
        </p:spPr>
        <p:txBody>
          <a:bodyPr wrap="square" lIns="0" tIns="0" rIns="0" bIns="0" rtlCol="0" anchor="ctr"/>
          <a:lstStyle/>
          <a:p>
            <a:pPr indent="0" marL="0">
              <a:buNone/>
            </a:pPr>
            <a:r>
              <a:rPr lang="en-US" sz="2000" dirty="0">
                <a:solidFill>
                  <a:schemeClr val="accent4"/>
                </a:solidFill>
              </a:rPr>
              <a:t>Questions?</a:t>
            </a:r>
            <a:endParaRPr lang="en-US" sz="2000" dirty="0"/>
          </a:p>
        </p:txBody>
      </p:sp>
      <p:sp>
        <p:nvSpPr>
          <p:cNvPr id="5" name="Text 2"/>
          <p:cNvSpPr txBox="1"/>
          <p:nvPr/>
        </p:nvSpPr>
        <p:spPr>
          <a:xfrm>
            <a:off x="457200" y="4297680"/>
            <a:ext cx="4846320" cy="365760"/>
          </a:xfrm>
          <a:prstGeom prst="rect">
            <a:avLst/>
          </a:prstGeom>
          <a:noFill/>
          <a:ln/>
        </p:spPr>
        <p:txBody>
          <a:bodyPr wrap="square" lIns="0" tIns="0" rIns="0" bIns="0" rtlCol="0" anchor="ctr"/>
          <a:lstStyle/>
          <a:p>
            <a:pPr indent="0" marL="0">
              <a:buNone/>
            </a:pPr>
            <a:r>
              <a:rPr lang="en-US" sz="1200" dirty="0">
                <a:solidFill>
                  <a:schemeClr val="bg1"/>
                </a:solidFill>
              </a:rPr>
              <a:t>M. Mohana Asmitha  |  D. Khyathi Saranya  |  R. Bhavitha</a:t>
            </a:r>
            <a:endParaRPr lang="en-US" sz="1200" dirty="0"/>
          </a:p>
        </p:txBody>
      </p:sp>
    </p:spTree>
  </p:cSld>
  <p:clrMapOvr>
    <a:masterClrMapping/>
  </p:clrMapOvr>
</p:sld>
</file>

<file path=ppt/theme/theme1.xml><?xml version="1.0" encoding="utf-8"?>
<a:theme xmlns:a="http://schemas.openxmlformats.org/drawingml/2006/main" name="Soil Horizon">
  <a:themeElements>
    <a:clrScheme name="Soil Horizon">
      <a:dk1>
        <a:srgbClr val="2A1B12"/>
      </a:dk1>
      <a:lt1>
        <a:srgbClr val="FFFFFF"/>
      </a:lt1>
      <a:dk2>
        <a:srgbClr val="5A3A22"/>
      </a:dk2>
      <a:lt2>
        <a:srgbClr val="F6EEE8"/>
      </a:lt2>
      <a:accent1>
        <a:srgbClr val="7A4A2B"/>
      </a:accent1>
      <a:accent2>
        <a:srgbClr val="6B8E3A"/>
      </a:accent2>
      <a:accent3>
        <a:srgbClr val="C8793A"/>
      </a:accent3>
      <a:accent4>
        <a:srgbClr val="D9B26F"/>
      </a:accent4>
      <a:accent5>
        <a:srgbClr val="3F6B52"/>
      </a:accent5>
      <a:accent6>
        <a:srgbClr val="9C6B4E"/>
      </a:accent6>
      <a:hlink>
        <a:srgbClr val="C8793A"/>
      </a:hlink>
      <a:folHlink>
        <a:srgbClr val="7A4A2B"/>
      </a:folHlink>
    </a:clrScheme>
    <a:fontScheme name="Soil Horiz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Soil Nutrients with PCA and Feature Engineering</dc:title>
  <dc:subject>PptxGenJS Presentation</dc:subject>
  <dc:creator>Team 17</dc:creator>
  <cp:lastModifiedBy>Team 17</cp:lastModifiedBy>
  <cp:revision>1</cp:revision>
  <dcterms:created xsi:type="dcterms:W3CDTF">2026-10-05T03:12:54Z</dcterms:created>
  <dcterms:modified xsi:type="dcterms:W3CDTF">2026-10-05T03:12:54Z</dcterms:modified>
</cp:coreProperties>
</file>